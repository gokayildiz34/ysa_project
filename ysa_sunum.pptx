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9" r:id="rId2"/>
    <p:sldId id="282" r:id="rId3"/>
    <p:sldId id="284" r:id="rId4"/>
    <p:sldId id="286" r:id="rId5"/>
    <p:sldId id="283" r:id="rId6"/>
    <p:sldId id="287" r:id="rId7"/>
    <p:sldId id="288" r:id="rId8"/>
    <p:sldId id="256" r:id="rId9"/>
    <p:sldId id="285" r:id="rId10"/>
    <p:sldId id="289" r:id="rId11"/>
    <p:sldId id="290" r:id="rId12"/>
    <p:sldId id="291" r:id="rId13"/>
    <p:sldId id="293" r:id="rId14"/>
    <p:sldId id="281" r:id="rId15"/>
    <p:sldId id="294" r:id="rId16"/>
    <p:sldId id="295" r:id="rId17"/>
    <p:sldId id="296" r:id="rId18"/>
    <p:sldId id="297" r:id="rId19"/>
    <p:sldId id="298" r:id="rId20"/>
    <p:sldId id="299" r:id="rId21"/>
    <p:sldId id="300" r:id="rId22"/>
    <p:sldId id="302" r:id="rId23"/>
    <p:sldId id="303" r:id="rId24"/>
    <p:sldId id="304" r:id="rId25"/>
    <p:sldId id="305" r:id="rId26"/>
    <p:sldId id="30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p:cViewPr varScale="1">
        <p:scale>
          <a:sx n="60" d="100"/>
          <a:sy n="60" d="100"/>
        </p:scale>
        <p:origin x="1024" y="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svg"/><Relationship Id="rId1" Type="http://schemas.openxmlformats.org/officeDocument/2006/relationships/image" Target="../media/image12.svg"/><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image" Target="../media/image27.svg"/><Relationship Id="rId5" Type="http://schemas.openxmlformats.org/officeDocument/2006/relationships/image" Target="../media/image31.svg"/><Relationship Id="rId4" Type="http://schemas.openxmlformats.org/officeDocument/2006/relationships/image" Target="../media/image3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svg"/><Relationship Id="rId1" Type="http://schemas.openxmlformats.org/officeDocument/2006/relationships/image" Target="../media/image12.svg"/><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image" Target="../media/image27.svg"/><Relationship Id="rId5" Type="http://schemas.openxmlformats.org/officeDocument/2006/relationships/image" Target="../media/image31.svg"/><Relationship Id="rId4"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399714-9D4D-4ECB-AFE7-2FCADD7E0894}"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CA8611EA-5929-4174-A8A0-141E4B16C968}">
      <dgm:prSet/>
      <dgm:spPr/>
      <dgm:t>
        <a:bodyPr/>
        <a:lstStyle/>
        <a:p>
          <a:r>
            <a:rPr lang="tr-TR"/>
            <a:t>Ham PCAP verileri okunarak IP/TCP/UDP/ICMP/DNS/HTTP gibi katman ve protokoller ayrıştırıldı.</a:t>
          </a:r>
          <a:endParaRPr lang="en-US"/>
        </a:p>
      </dgm:t>
    </dgm:pt>
    <dgm:pt modelId="{F48B5567-E5E8-4AF1-A3D0-AABCC1F29DDC}" type="parTrans" cxnId="{139BA876-61F3-4C79-B3B1-BEEB950D3340}">
      <dgm:prSet/>
      <dgm:spPr/>
      <dgm:t>
        <a:bodyPr/>
        <a:lstStyle/>
        <a:p>
          <a:endParaRPr lang="en-US"/>
        </a:p>
      </dgm:t>
    </dgm:pt>
    <dgm:pt modelId="{D7AF4CEC-E0BF-4EC0-9A0A-ADD842DC22F5}" type="sibTrans" cxnId="{139BA876-61F3-4C79-B3B1-BEEB950D3340}">
      <dgm:prSet/>
      <dgm:spPr/>
      <dgm:t>
        <a:bodyPr/>
        <a:lstStyle/>
        <a:p>
          <a:endParaRPr lang="en-US"/>
        </a:p>
      </dgm:t>
    </dgm:pt>
    <dgm:pt modelId="{74C43FD6-02C4-4F9C-9031-9EACD8181F4A}">
      <dgm:prSet/>
      <dgm:spPr/>
      <dgm:t>
        <a:bodyPr/>
        <a:lstStyle/>
        <a:p>
          <a:r>
            <a:rPr lang="tr-TR"/>
            <a:t>Belirli trafik türleri (ör. HTTP request) filtrelenerek analiz için ilgili paketler seçildi.</a:t>
          </a:r>
          <a:endParaRPr lang="en-US"/>
        </a:p>
      </dgm:t>
    </dgm:pt>
    <dgm:pt modelId="{A75605E6-D079-4879-8F74-ABBF16687A34}" type="parTrans" cxnId="{371220B8-A157-4169-A485-BD5C361CFF9C}">
      <dgm:prSet/>
      <dgm:spPr/>
      <dgm:t>
        <a:bodyPr/>
        <a:lstStyle/>
        <a:p>
          <a:endParaRPr lang="en-US"/>
        </a:p>
      </dgm:t>
    </dgm:pt>
    <dgm:pt modelId="{69625401-F991-4CC9-B968-4CCAF3AF2372}" type="sibTrans" cxnId="{371220B8-A157-4169-A485-BD5C361CFF9C}">
      <dgm:prSet/>
      <dgm:spPr/>
      <dgm:t>
        <a:bodyPr/>
        <a:lstStyle/>
        <a:p>
          <a:endParaRPr lang="en-US"/>
        </a:p>
      </dgm:t>
    </dgm:pt>
    <dgm:pt modelId="{0F9A3792-50DD-4540-BD24-A97E109B04DB}">
      <dgm:prSet/>
      <dgm:spPr/>
      <dgm:t>
        <a:bodyPr/>
        <a:lstStyle/>
        <a:p>
          <a:r>
            <a:rPr lang="tr-TR"/>
            <a:t>Zaman pencereleri oluşturularak aynı aralıktaki paketler gruplanıp akış bazlı yapıya dönüştürüldü.</a:t>
          </a:r>
          <a:endParaRPr lang="en-US"/>
        </a:p>
      </dgm:t>
    </dgm:pt>
    <dgm:pt modelId="{8A0F7BBF-D4D6-4A84-9AE9-C35FB270EE0D}" type="parTrans" cxnId="{18E1665A-0569-431C-9D1A-877A4F49B051}">
      <dgm:prSet/>
      <dgm:spPr/>
      <dgm:t>
        <a:bodyPr/>
        <a:lstStyle/>
        <a:p>
          <a:endParaRPr lang="en-US"/>
        </a:p>
      </dgm:t>
    </dgm:pt>
    <dgm:pt modelId="{4073D80B-C24A-4929-A4DA-CAB13B977823}" type="sibTrans" cxnId="{18E1665A-0569-431C-9D1A-877A4F49B051}">
      <dgm:prSet/>
      <dgm:spPr/>
      <dgm:t>
        <a:bodyPr/>
        <a:lstStyle/>
        <a:p>
          <a:endParaRPr lang="en-US"/>
        </a:p>
      </dgm:t>
    </dgm:pt>
    <dgm:pt modelId="{76CB5164-2243-4B7E-BBB9-91A8BE4076B4}">
      <dgm:prSet/>
      <dgm:spPr/>
      <dgm:t>
        <a:bodyPr/>
        <a:lstStyle/>
        <a:p>
          <a:r>
            <a:rPr lang="tr-TR"/>
            <a:t>Boş pencere, hatalı kayıt, eksik ve sonsuz değer içeren örnekler temizlendi. Özellik çıkarımı yapılarak sayısal bir özellik matrisi elde edildi.</a:t>
          </a:r>
          <a:endParaRPr lang="en-US"/>
        </a:p>
      </dgm:t>
    </dgm:pt>
    <dgm:pt modelId="{D820ABE6-4C39-4702-8CCB-DF021D8A9A74}" type="parTrans" cxnId="{D866B630-C1CC-4637-8604-AA71580594F3}">
      <dgm:prSet/>
      <dgm:spPr/>
      <dgm:t>
        <a:bodyPr/>
        <a:lstStyle/>
        <a:p>
          <a:endParaRPr lang="en-US"/>
        </a:p>
      </dgm:t>
    </dgm:pt>
    <dgm:pt modelId="{A8412ED0-5F66-4592-96C2-313E0A24F9E2}" type="sibTrans" cxnId="{D866B630-C1CC-4637-8604-AA71580594F3}">
      <dgm:prSet/>
      <dgm:spPr/>
      <dgm:t>
        <a:bodyPr/>
        <a:lstStyle/>
        <a:p>
          <a:endParaRPr lang="en-US"/>
        </a:p>
      </dgm:t>
    </dgm:pt>
    <dgm:pt modelId="{D4B858C6-C3AB-43FA-91C3-FDF6E751AB23}">
      <dgm:prSet/>
      <dgm:spPr/>
      <dgm:t>
        <a:bodyPr/>
        <a:lstStyle/>
        <a:p>
          <a:r>
            <a:rPr lang="tr-TR"/>
            <a:t>Veri seti dosya bazlı olarak train/validation/test şeklinde bölündü ve veri sızıntısı önlendi.</a:t>
          </a:r>
          <a:endParaRPr lang="en-US"/>
        </a:p>
      </dgm:t>
    </dgm:pt>
    <dgm:pt modelId="{FD7B423D-9AB0-4B5A-B3D0-9A3B44F3F956}" type="parTrans" cxnId="{BA80F5ED-8A4B-4EE7-AD51-3A663F9D0F86}">
      <dgm:prSet/>
      <dgm:spPr/>
      <dgm:t>
        <a:bodyPr/>
        <a:lstStyle/>
        <a:p>
          <a:endParaRPr lang="en-US"/>
        </a:p>
      </dgm:t>
    </dgm:pt>
    <dgm:pt modelId="{06A7E5FE-43D6-48AB-B1A6-09CF494EC865}" type="sibTrans" cxnId="{BA80F5ED-8A4B-4EE7-AD51-3A663F9D0F86}">
      <dgm:prSet/>
      <dgm:spPr/>
      <dgm:t>
        <a:bodyPr/>
        <a:lstStyle/>
        <a:p>
          <a:endParaRPr lang="en-US"/>
        </a:p>
      </dgm:t>
    </dgm:pt>
    <dgm:pt modelId="{C894F705-677E-4570-A539-24CCBA461EC4}" type="pres">
      <dgm:prSet presAssocID="{D0399714-9D4D-4ECB-AFE7-2FCADD7E0894}" presName="linear" presStyleCnt="0">
        <dgm:presLayoutVars>
          <dgm:animLvl val="lvl"/>
          <dgm:resizeHandles val="exact"/>
        </dgm:presLayoutVars>
      </dgm:prSet>
      <dgm:spPr/>
    </dgm:pt>
    <dgm:pt modelId="{56208DA1-426A-486B-86AC-4651AEF0FDD7}" type="pres">
      <dgm:prSet presAssocID="{CA8611EA-5929-4174-A8A0-141E4B16C968}" presName="parentText" presStyleLbl="node1" presStyleIdx="0" presStyleCnt="5">
        <dgm:presLayoutVars>
          <dgm:chMax val="0"/>
          <dgm:bulletEnabled val="1"/>
        </dgm:presLayoutVars>
      </dgm:prSet>
      <dgm:spPr/>
    </dgm:pt>
    <dgm:pt modelId="{3940CE45-0E28-4DC6-AEA2-5F63C81D1014}" type="pres">
      <dgm:prSet presAssocID="{D7AF4CEC-E0BF-4EC0-9A0A-ADD842DC22F5}" presName="spacer" presStyleCnt="0"/>
      <dgm:spPr/>
    </dgm:pt>
    <dgm:pt modelId="{6B29585B-6B3B-4DC5-8194-17E6534A39AD}" type="pres">
      <dgm:prSet presAssocID="{74C43FD6-02C4-4F9C-9031-9EACD8181F4A}" presName="parentText" presStyleLbl="node1" presStyleIdx="1" presStyleCnt="5">
        <dgm:presLayoutVars>
          <dgm:chMax val="0"/>
          <dgm:bulletEnabled val="1"/>
        </dgm:presLayoutVars>
      </dgm:prSet>
      <dgm:spPr/>
    </dgm:pt>
    <dgm:pt modelId="{2234740A-5398-448F-BE73-E7D8E3D736CF}" type="pres">
      <dgm:prSet presAssocID="{69625401-F991-4CC9-B968-4CCAF3AF2372}" presName="spacer" presStyleCnt="0"/>
      <dgm:spPr/>
    </dgm:pt>
    <dgm:pt modelId="{C88955C9-EB95-42E5-83C1-0C46DD604D1B}" type="pres">
      <dgm:prSet presAssocID="{0F9A3792-50DD-4540-BD24-A97E109B04DB}" presName="parentText" presStyleLbl="node1" presStyleIdx="2" presStyleCnt="5">
        <dgm:presLayoutVars>
          <dgm:chMax val="0"/>
          <dgm:bulletEnabled val="1"/>
        </dgm:presLayoutVars>
      </dgm:prSet>
      <dgm:spPr/>
    </dgm:pt>
    <dgm:pt modelId="{35AEDBC2-BD4A-428F-A6EB-B278377B6621}" type="pres">
      <dgm:prSet presAssocID="{4073D80B-C24A-4929-A4DA-CAB13B977823}" presName="spacer" presStyleCnt="0"/>
      <dgm:spPr/>
    </dgm:pt>
    <dgm:pt modelId="{A9EF987E-B5F1-4BFD-A7E6-A932971987A8}" type="pres">
      <dgm:prSet presAssocID="{76CB5164-2243-4B7E-BBB9-91A8BE4076B4}" presName="parentText" presStyleLbl="node1" presStyleIdx="3" presStyleCnt="5">
        <dgm:presLayoutVars>
          <dgm:chMax val="0"/>
          <dgm:bulletEnabled val="1"/>
        </dgm:presLayoutVars>
      </dgm:prSet>
      <dgm:spPr/>
    </dgm:pt>
    <dgm:pt modelId="{335785B4-FCCC-4EDE-9435-0D4835B81E4F}" type="pres">
      <dgm:prSet presAssocID="{A8412ED0-5F66-4592-96C2-313E0A24F9E2}" presName="spacer" presStyleCnt="0"/>
      <dgm:spPr/>
    </dgm:pt>
    <dgm:pt modelId="{8910DBD1-F8DF-4569-91C6-138FF964069D}" type="pres">
      <dgm:prSet presAssocID="{D4B858C6-C3AB-43FA-91C3-FDF6E751AB23}" presName="parentText" presStyleLbl="node1" presStyleIdx="4" presStyleCnt="5">
        <dgm:presLayoutVars>
          <dgm:chMax val="0"/>
          <dgm:bulletEnabled val="1"/>
        </dgm:presLayoutVars>
      </dgm:prSet>
      <dgm:spPr/>
    </dgm:pt>
  </dgm:ptLst>
  <dgm:cxnLst>
    <dgm:cxn modelId="{4E88A21C-7953-4B0C-8CAE-6F841D626C2D}" type="presOf" srcId="{76CB5164-2243-4B7E-BBB9-91A8BE4076B4}" destId="{A9EF987E-B5F1-4BFD-A7E6-A932971987A8}" srcOrd="0" destOrd="0" presId="urn:microsoft.com/office/officeart/2005/8/layout/vList2"/>
    <dgm:cxn modelId="{D2D57E20-A884-46CF-94F0-D2C4D04BA646}" type="presOf" srcId="{D4B858C6-C3AB-43FA-91C3-FDF6E751AB23}" destId="{8910DBD1-F8DF-4569-91C6-138FF964069D}" srcOrd="0" destOrd="0" presId="urn:microsoft.com/office/officeart/2005/8/layout/vList2"/>
    <dgm:cxn modelId="{D866B630-C1CC-4637-8604-AA71580594F3}" srcId="{D0399714-9D4D-4ECB-AFE7-2FCADD7E0894}" destId="{76CB5164-2243-4B7E-BBB9-91A8BE4076B4}" srcOrd="3" destOrd="0" parTransId="{D820ABE6-4C39-4702-8CCB-DF021D8A9A74}" sibTransId="{A8412ED0-5F66-4592-96C2-313E0A24F9E2}"/>
    <dgm:cxn modelId="{C22B6A65-1718-4FEA-AF59-F58F796F4ABB}" type="presOf" srcId="{CA8611EA-5929-4174-A8A0-141E4B16C968}" destId="{56208DA1-426A-486B-86AC-4651AEF0FDD7}" srcOrd="0" destOrd="0" presId="urn:microsoft.com/office/officeart/2005/8/layout/vList2"/>
    <dgm:cxn modelId="{139BA876-61F3-4C79-B3B1-BEEB950D3340}" srcId="{D0399714-9D4D-4ECB-AFE7-2FCADD7E0894}" destId="{CA8611EA-5929-4174-A8A0-141E4B16C968}" srcOrd="0" destOrd="0" parTransId="{F48B5567-E5E8-4AF1-A3D0-AABCC1F29DDC}" sibTransId="{D7AF4CEC-E0BF-4EC0-9A0A-ADD842DC22F5}"/>
    <dgm:cxn modelId="{AC44A379-A834-4F44-9568-8234419B3DCB}" type="presOf" srcId="{0F9A3792-50DD-4540-BD24-A97E109B04DB}" destId="{C88955C9-EB95-42E5-83C1-0C46DD604D1B}" srcOrd="0" destOrd="0" presId="urn:microsoft.com/office/officeart/2005/8/layout/vList2"/>
    <dgm:cxn modelId="{18E1665A-0569-431C-9D1A-877A4F49B051}" srcId="{D0399714-9D4D-4ECB-AFE7-2FCADD7E0894}" destId="{0F9A3792-50DD-4540-BD24-A97E109B04DB}" srcOrd="2" destOrd="0" parTransId="{8A0F7BBF-D4D6-4A84-9AE9-C35FB270EE0D}" sibTransId="{4073D80B-C24A-4929-A4DA-CAB13B977823}"/>
    <dgm:cxn modelId="{4181648F-02A5-4151-AFA7-035612AAF95A}" type="presOf" srcId="{74C43FD6-02C4-4F9C-9031-9EACD8181F4A}" destId="{6B29585B-6B3B-4DC5-8194-17E6534A39AD}" srcOrd="0" destOrd="0" presId="urn:microsoft.com/office/officeart/2005/8/layout/vList2"/>
    <dgm:cxn modelId="{371220B8-A157-4169-A485-BD5C361CFF9C}" srcId="{D0399714-9D4D-4ECB-AFE7-2FCADD7E0894}" destId="{74C43FD6-02C4-4F9C-9031-9EACD8181F4A}" srcOrd="1" destOrd="0" parTransId="{A75605E6-D079-4879-8F74-ABBF16687A34}" sibTransId="{69625401-F991-4CC9-B968-4CCAF3AF2372}"/>
    <dgm:cxn modelId="{BA80F5ED-8A4B-4EE7-AD51-3A663F9D0F86}" srcId="{D0399714-9D4D-4ECB-AFE7-2FCADD7E0894}" destId="{D4B858C6-C3AB-43FA-91C3-FDF6E751AB23}" srcOrd="4" destOrd="0" parTransId="{FD7B423D-9AB0-4B5A-B3D0-9A3B44F3F956}" sibTransId="{06A7E5FE-43D6-48AB-B1A6-09CF494EC865}"/>
    <dgm:cxn modelId="{C4B352FB-E574-4911-B0F0-D95C5E6DB67D}" type="presOf" srcId="{D0399714-9D4D-4ECB-AFE7-2FCADD7E0894}" destId="{C894F705-677E-4570-A539-24CCBA461EC4}" srcOrd="0" destOrd="0" presId="urn:microsoft.com/office/officeart/2005/8/layout/vList2"/>
    <dgm:cxn modelId="{95E2D118-462C-44DE-8FCE-9A183DF25162}" type="presParOf" srcId="{C894F705-677E-4570-A539-24CCBA461EC4}" destId="{56208DA1-426A-486B-86AC-4651AEF0FDD7}" srcOrd="0" destOrd="0" presId="urn:microsoft.com/office/officeart/2005/8/layout/vList2"/>
    <dgm:cxn modelId="{FD1565BA-04E4-4B9B-9C92-80F7B28EDD98}" type="presParOf" srcId="{C894F705-677E-4570-A539-24CCBA461EC4}" destId="{3940CE45-0E28-4DC6-AEA2-5F63C81D1014}" srcOrd="1" destOrd="0" presId="urn:microsoft.com/office/officeart/2005/8/layout/vList2"/>
    <dgm:cxn modelId="{28D9FE5B-348B-4AA5-B201-2842539C25FE}" type="presParOf" srcId="{C894F705-677E-4570-A539-24CCBA461EC4}" destId="{6B29585B-6B3B-4DC5-8194-17E6534A39AD}" srcOrd="2" destOrd="0" presId="urn:microsoft.com/office/officeart/2005/8/layout/vList2"/>
    <dgm:cxn modelId="{1D1182B8-A71C-4AEE-A4CC-FCF81568CA21}" type="presParOf" srcId="{C894F705-677E-4570-A539-24CCBA461EC4}" destId="{2234740A-5398-448F-BE73-E7D8E3D736CF}" srcOrd="3" destOrd="0" presId="urn:microsoft.com/office/officeart/2005/8/layout/vList2"/>
    <dgm:cxn modelId="{BC145A00-054E-4DF0-8613-6AD1C32F976E}" type="presParOf" srcId="{C894F705-677E-4570-A539-24CCBA461EC4}" destId="{C88955C9-EB95-42E5-83C1-0C46DD604D1B}" srcOrd="4" destOrd="0" presId="urn:microsoft.com/office/officeart/2005/8/layout/vList2"/>
    <dgm:cxn modelId="{B6CD07B7-6C4F-44FE-B548-54C9166CA5A1}" type="presParOf" srcId="{C894F705-677E-4570-A539-24CCBA461EC4}" destId="{35AEDBC2-BD4A-428F-A6EB-B278377B6621}" srcOrd="5" destOrd="0" presId="urn:microsoft.com/office/officeart/2005/8/layout/vList2"/>
    <dgm:cxn modelId="{70B8A783-DF2E-4807-9434-D6D2A9A7E8E2}" type="presParOf" srcId="{C894F705-677E-4570-A539-24CCBA461EC4}" destId="{A9EF987E-B5F1-4BFD-A7E6-A932971987A8}" srcOrd="6" destOrd="0" presId="urn:microsoft.com/office/officeart/2005/8/layout/vList2"/>
    <dgm:cxn modelId="{64942722-9A4B-4D6B-9D30-12E5B66C47A3}" type="presParOf" srcId="{C894F705-677E-4570-A539-24CCBA461EC4}" destId="{335785B4-FCCC-4EDE-9435-0D4835B81E4F}" srcOrd="7" destOrd="0" presId="urn:microsoft.com/office/officeart/2005/8/layout/vList2"/>
    <dgm:cxn modelId="{C7448A66-B93E-4540-ACE1-96EC08E6A34D}" type="presParOf" srcId="{C894F705-677E-4570-A539-24CCBA461EC4}" destId="{8910DBD1-F8DF-4569-91C6-138FF964069D}"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22D605-85A8-4713-B544-E33C35156E7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8B7E638-2524-4D1F-B12A-811EA5D268FE}">
      <dgm:prSet/>
      <dgm:spPr/>
      <dgm:t>
        <a:bodyPr/>
        <a:lstStyle/>
        <a:p>
          <a:r>
            <a:rPr lang="tr-TR"/>
            <a:t>Hidden_layers</a:t>
          </a:r>
          <a:endParaRPr lang="en-US"/>
        </a:p>
      </dgm:t>
    </dgm:pt>
    <dgm:pt modelId="{EFAC43DD-C07B-44F2-8649-D81A5E865A01}" type="parTrans" cxnId="{2AEAA80E-089B-4240-B002-7FD168BC385A}">
      <dgm:prSet/>
      <dgm:spPr/>
      <dgm:t>
        <a:bodyPr/>
        <a:lstStyle/>
        <a:p>
          <a:endParaRPr lang="en-US"/>
        </a:p>
      </dgm:t>
    </dgm:pt>
    <dgm:pt modelId="{858A7479-F98A-4092-83D8-0C1BE37FBF58}" type="sibTrans" cxnId="{2AEAA80E-089B-4240-B002-7FD168BC385A}">
      <dgm:prSet/>
      <dgm:spPr/>
      <dgm:t>
        <a:bodyPr/>
        <a:lstStyle/>
        <a:p>
          <a:endParaRPr lang="en-US"/>
        </a:p>
      </dgm:t>
    </dgm:pt>
    <dgm:pt modelId="{3451CD82-7010-4440-A4FC-5A9DF781544B}">
      <dgm:prSet/>
      <dgm:spPr/>
      <dgm:t>
        <a:bodyPr/>
        <a:lstStyle/>
        <a:p>
          <a:r>
            <a:rPr lang="tr-TR"/>
            <a:t>Bottleneck_dimension</a:t>
          </a:r>
          <a:endParaRPr lang="en-US"/>
        </a:p>
      </dgm:t>
    </dgm:pt>
    <dgm:pt modelId="{FD459E62-C688-44C9-856F-49E6C96A5BF8}" type="parTrans" cxnId="{2C60AC05-C3F4-4CEE-B4C9-40E2E004E865}">
      <dgm:prSet/>
      <dgm:spPr/>
      <dgm:t>
        <a:bodyPr/>
        <a:lstStyle/>
        <a:p>
          <a:endParaRPr lang="en-US"/>
        </a:p>
      </dgm:t>
    </dgm:pt>
    <dgm:pt modelId="{B5C0668E-AB69-47DA-93D0-C7F88816CBB0}" type="sibTrans" cxnId="{2C60AC05-C3F4-4CEE-B4C9-40E2E004E865}">
      <dgm:prSet/>
      <dgm:spPr/>
      <dgm:t>
        <a:bodyPr/>
        <a:lstStyle/>
        <a:p>
          <a:endParaRPr lang="en-US"/>
        </a:p>
      </dgm:t>
    </dgm:pt>
    <dgm:pt modelId="{F750EB55-1E8B-4CD4-A194-14A6B4D8E865}">
      <dgm:prSet/>
      <dgm:spPr/>
      <dgm:t>
        <a:bodyPr/>
        <a:lstStyle/>
        <a:p>
          <a:r>
            <a:rPr lang="tr-TR"/>
            <a:t>Dropout Rate</a:t>
          </a:r>
          <a:endParaRPr lang="en-US"/>
        </a:p>
      </dgm:t>
    </dgm:pt>
    <dgm:pt modelId="{BB82829E-B15C-47B7-9BA7-C62D83BFCB95}" type="parTrans" cxnId="{67C53A59-E758-4061-ABA4-7A141FC68A92}">
      <dgm:prSet/>
      <dgm:spPr/>
      <dgm:t>
        <a:bodyPr/>
        <a:lstStyle/>
        <a:p>
          <a:endParaRPr lang="en-US"/>
        </a:p>
      </dgm:t>
    </dgm:pt>
    <dgm:pt modelId="{9324C600-9489-4760-B5C7-3A8EBAD79918}" type="sibTrans" cxnId="{67C53A59-E758-4061-ABA4-7A141FC68A92}">
      <dgm:prSet/>
      <dgm:spPr/>
      <dgm:t>
        <a:bodyPr/>
        <a:lstStyle/>
        <a:p>
          <a:endParaRPr lang="en-US"/>
        </a:p>
      </dgm:t>
    </dgm:pt>
    <dgm:pt modelId="{4EAA7C23-AADA-4A3D-BF05-009E8FBBBA18}">
      <dgm:prSet/>
      <dgm:spPr/>
      <dgm:t>
        <a:bodyPr/>
        <a:lstStyle/>
        <a:p>
          <a:r>
            <a:rPr lang="tr-TR"/>
            <a:t>Learning_rate</a:t>
          </a:r>
          <a:endParaRPr lang="en-US"/>
        </a:p>
      </dgm:t>
    </dgm:pt>
    <dgm:pt modelId="{168ECE01-0975-4529-9CE0-69BCBDB6408A}" type="parTrans" cxnId="{808991AC-497E-4697-BF9D-C96932960185}">
      <dgm:prSet/>
      <dgm:spPr/>
      <dgm:t>
        <a:bodyPr/>
        <a:lstStyle/>
        <a:p>
          <a:endParaRPr lang="en-US"/>
        </a:p>
      </dgm:t>
    </dgm:pt>
    <dgm:pt modelId="{9975199C-1E6A-4867-B4F8-5A0CC71012DF}" type="sibTrans" cxnId="{808991AC-497E-4697-BF9D-C96932960185}">
      <dgm:prSet/>
      <dgm:spPr/>
      <dgm:t>
        <a:bodyPr/>
        <a:lstStyle/>
        <a:p>
          <a:endParaRPr lang="en-US"/>
        </a:p>
      </dgm:t>
    </dgm:pt>
    <dgm:pt modelId="{3F494DC4-3F43-4FF9-A019-771E11F3C4E5}">
      <dgm:prSet/>
      <dgm:spPr/>
      <dgm:t>
        <a:bodyPr/>
        <a:lstStyle/>
        <a:p>
          <a:r>
            <a:rPr lang="tr-TR"/>
            <a:t>Batch_size</a:t>
          </a:r>
          <a:endParaRPr lang="en-US"/>
        </a:p>
      </dgm:t>
    </dgm:pt>
    <dgm:pt modelId="{2EBBA2C9-A744-432A-B0A5-D5836EF1DE6C}" type="parTrans" cxnId="{C09C0DE1-CB9F-43F8-9D3E-3565DD1E7078}">
      <dgm:prSet/>
      <dgm:spPr/>
      <dgm:t>
        <a:bodyPr/>
        <a:lstStyle/>
        <a:p>
          <a:endParaRPr lang="en-US"/>
        </a:p>
      </dgm:t>
    </dgm:pt>
    <dgm:pt modelId="{4F663BA4-5991-4624-9CF7-F7226B15ADB2}" type="sibTrans" cxnId="{C09C0DE1-CB9F-43F8-9D3E-3565DD1E7078}">
      <dgm:prSet/>
      <dgm:spPr/>
      <dgm:t>
        <a:bodyPr/>
        <a:lstStyle/>
        <a:p>
          <a:endParaRPr lang="en-US"/>
        </a:p>
      </dgm:t>
    </dgm:pt>
    <dgm:pt modelId="{9C10FE7A-4F8C-4856-9C3E-32594B9B13CD}">
      <dgm:prSet/>
      <dgm:spPr/>
      <dgm:t>
        <a:bodyPr/>
        <a:lstStyle/>
        <a:p>
          <a:r>
            <a:rPr lang="tr-TR"/>
            <a:t>Scaler</a:t>
          </a:r>
          <a:endParaRPr lang="en-US"/>
        </a:p>
      </dgm:t>
    </dgm:pt>
    <dgm:pt modelId="{902F361E-1343-41EF-ACE8-AECC0CA78372}" type="parTrans" cxnId="{1A83CA8F-88BC-4120-9A30-25045A9B6BEA}">
      <dgm:prSet/>
      <dgm:spPr/>
      <dgm:t>
        <a:bodyPr/>
        <a:lstStyle/>
        <a:p>
          <a:endParaRPr lang="en-US"/>
        </a:p>
      </dgm:t>
    </dgm:pt>
    <dgm:pt modelId="{5D76E184-EA9F-47FA-AB7B-AF3C3C69EE30}" type="sibTrans" cxnId="{1A83CA8F-88BC-4120-9A30-25045A9B6BEA}">
      <dgm:prSet/>
      <dgm:spPr/>
      <dgm:t>
        <a:bodyPr/>
        <a:lstStyle/>
        <a:p>
          <a:endParaRPr lang="en-US"/>
        </a:p>
      </dgm:t>
    </dgm:pt>
    <dgm:pt modelId="{38EFE064-47E1-47CE-9B1F-A9D873B21E3F}">
      <dgm:prSet/>
      <dgm:spPr/>
      <dgm:t>
        <a:bodyPr/>
        <a:lstStyle/>
        <a:p>
          <a:r>
            <a:rPr lang="tr-TR"/>
            <a:t>gibi parametrelerle en iyi sonucu alabileceğimiz değerler elde edilmiştir.</a:t>
          </a:r>
          <a:endParaRPr lang="en-US"/>
        </a:p>
      </dgm:t>
    </dgm:pt>
    <dgm:pt modelId="{F21E54DD-4391-4F79-BDFA-3A3F436DE4E6}" type="parTrans" cxnId="{7AAF3371-3B49-4925-82C3-4212E3CBC898}">
      <dgm:prSet/>
      <dgm:spPr/>
      <dgm:t>
        <a:bodyPr/>
        <a:lstStyle/>
        <a:p>
          <a:endParaRPr lang="en-US"/>
        </a:p>
      </dgm:t>
    </dgm:pt>
    <dgm:pt modelId="{60C9E1B3-1A82-432C-AACF-4FFEA1F8B764}" type="sibTrans" cxnId="{7AAF3371-3B49-4925-82C3-4212E3CBC898}">
      <dgm:prSet/>
      <dgm:spPr/>
      <dgm:t>
        <a:bodyPr/>
        <a:lstStyle/>
        <a:p>
          <a:endParaRPr lang="en-US"/>
        </a:p>
      </dgm:t>
    </dgm:pt>
    <dgm:pt modelId="{2355B7DF-7163-4EEA-B61F-3E45E374E07E}" type="pres">
      <dgm:prSet presAssocID="{CC22D605-85A8-4713-B544-E33C35156E73}" presName="root" presStyleCnt="0">
        <dgm:presLayoutVars>
          <dgm:dir/>
          <dgm:resizeHandles val="exact"/>
        </dgm:presLayoutVars>
      </dgm:prSet>
      <dgm:spPr/>
    </dgm:pt>
    <dgm:pt modelId="{B6C23E3F-C1C8-4779-AA18-873E35AC06D9}" type="pres">
      <dgm:prSet presAssocID="{E8B7E638-2524-4D1F-B12A-811EA5D268FE}" presName="compNode" presStyleCnt="0"/>
      <dgm:spPr/>
    </dgm:pt>
    <dgm:pt modelId="{B2436314-F8CE-411C-B338-64149BB4CB06}" type="pres">
      <dgm:prSet presAssocID="{E8B7E638-2524-4D1F-B12A-811EA5D268FE}" presName="bgRect" presStyleLbl="bgShp" presStyleIdx="0" presStyleCnt="7"/>
      <dgm:spPr/>
    </dgm:pt>
    <dgm:pt modelId="{E18A2E78-0C23-41F0-8122-25F658C6DB14}" type="pres">
      <dgm:prSet presAssocID="{E8B7E638-2524-4D1F-B12A-811EA5D268FE}"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Örümcek ağı"/>
        </a:ext>
      </dgm:extLst>
    </dgm:pt>
    <dgm:pt modelId="{EEEDA0C5-3235-419D-8B67-CFAEA927981B}" type="pres">
      <dgm:prSet presAssocID="{E8B7E638-2524-4D1F-B12A-811EA5D268FE}" presName="spaceRect" presStyleCnt="0"/>
      <dgm:spPr/>
    </dgm:pt>
    <dgm:pt modelId="{2D5B5194-5E63-4F96-B459-477033B8A64C}" type="pres">
      <dgm:prSet presAssocID="{E8B7E638-2524-4D1F-B12A-811EA5D268FE}" presName="parTx" presStyleLbl="revTx" presStyleIdx="0" presStyleCnt="7">
        <dgm:presLayoutVars>
          <dgm:chMax val="0"/>
          <dgm:chPref val="0"/>
        </dgm:presLayoutVars>
      </dgm:prSet>
      <dgm:spPr/>
    </dgm:pt>
    <dgm:pt modelId="{1DC0366B-364E-403E-A837-6684FC3AE943}" type="pres">
      <dgm:prSet presAssocID="{858A7479-F98A-4092-83D8-0C1BE37FBF58}" presName="sibTrans" presStyleCnt="0"/>
      <dgm:spPr/>
    </dgm:pt>
    <dgm:pt modelId="{12363FD4-867D-4209-90EE-796CCA41A421}" type="pres">
      <dgm:prSet presAssocID="{3451CD82-7010-4440-A4FC-5A9DF781544B}" presName="compNode" presStyleCnt="0"/>
      <dgm:spPr/>
    </dgm:pt>
    <dgm:pt modelId="{F0F5BDD1-621A-4782-B585-137CE840FD05}" type="pres">
      <dgm:prSet presAssocID="{3451CD82-7010-4440-A4FC-5A9DF781544B}" presName="bgRect" presStyleLbl="bgShp" presStyleIdx="1" presStyleCnt="7"/>
      <dgm:spPr/>
    </dgm:pt>
    <dgm:pt modelId="{65996608-561A-4EBA-BBEA-E0A43A72A66D}" type="pres">
      <dgm:prSet presAssocID="{3451CD82-7010-4440-A4FC-5A9DF781544B}"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ğlı değil"/>
        </a:ext>
      </dgm:extLst>
    </dgm:pt>
    <dgm:pt modelId="{B2F097C9-CD5F-4A66-992E-D4D6EF9C6C86}" type="pres">
      <dgm:prSet presAssocID="{3451CD82-7010-4440-A4FC-5A9DF781544B}" presName="spaceRect" presStyleCnt="0"/>
      <dgm:spPr/>
    </dgm:pt>
    <dgm:pt modelId="{0391D6EA-EA74-4505-A847-5C13BED0B39A}" type="pres">
      <dgm:prSet presAssocID="{3451CD82-7010-4440-A4FC-5A9DF781544B}" presName="parTx" presStyleLbl="revTx" presStyleIdx="1" presStyleCnt="7">
        <dgm:presLayoutVars>
          <dgm:chMax val="0"/>
          <dgm:chPref val="0"/>
        </dgm:presLayoutVars>
      </dgm:prSet>
      <dgm:spPr/>
    </dgm:pt>
    <dgm:pt modelId="{4FD3FC2D-63D2-460C-ADC8-A01945DE082E}" type="pres">
      <dgm:prSet presAssocID="{B5C0668E-AB69-47DA-93D0-C7F88816CBB0}" presName="sibTrans" presStyleCnt="0"/>
      <dgm:spPr/>
    </dgm:pt>
    <dgm:pt modelId="{20916666-43A7-4F8B-A606-52503CA9C99E}" type="pres">
      <dgm:prSet presAssocID="{F750EB55-1E8B-4CD4-A194-14A6B4D8E865}" presName="compNode" presStyleCnt="0"/>
      <dgm:spPr/>
    </dgm:pt>
    <dgm:pt modelId="{BD17A61C-0944-4877-B38B-EE2BE5D8EF71}" type="pres">
      <dgm:prSet presAssocID="{F750EB55-1E8B-4CD4-A194-14A6B4D8E865}" presName="bgRect" presStyleLbl="bgShp" presStyleIdx="2" presStyleCnt="7"/>
      <dgm:spPr/>
    </dgm:pt>
    <dgm:pt modelId="{18E06EAD-B9BA-4541-88A8-78625BAFF983}" type="pres">
      <dgm:prSet presAssocID="{F750EB55-1E8B-4CD4-A194-14A6B4D8E865}"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wnward trend"/>
        </a:ext>
      </dgm:extLst>
    </dgm:pt>
    <dgm:pt modelId="{FA3B7602-DD12-42BC-9DD7-8F19EBBE8E67}" type="pres">
      <dgm:prSet presAssocID="{F750EB55-1E8B-4CD4-A194-14A6B4D8E865}" presName="spaceRect" presStyleCnt="0"/>
      <dgm:spPr/>
    </dgm:pt>
    <dgm:pt modelId="{EFE8715C-1C7B-445A-B9EF-D5CEF5600F2C}" type="pres">
      <dgm:prSet presAssocID="{F750EB55-1E8B-4CD4-A194-14A6B4D8E865}" presName="parTx" presStyleLbl="revTx" presStyleIdx="2" presStyleCnt="7">
        <dgm:presLayoutVars>
          <dgm:chMax val="0"/>
          <dgm:chPref val="0"/>
        </dgm:presLayoutVars>
      </dgm:prSet>
      <dgm:spPr/>
    </dgm:pt>
    <dgm:pt modelId="{3D8C547D-51C8-45FB-972A-311E2387C419}" type="pres">
      <dgm:prSet presAssocID="{9324C600-9489-4760-B5C7-3A8EBAD79918}" presName="sibTrans" presStyleCnt="0"/>
      <dgm:spPr/>
    </dgm:pt>
    <dgm:pt modelId="{AAB863AB-AA7D-488F-9797-4E0D15FEF6BC}" type="pres">
      <dgm:prSet presAssocID="{4EAA7C23-AADA-4A3D-BF05-009E8FBBBA18}" presName="compNode" presStyleCnt="0"/>
      <dgm:spPr/>
    </dgm:pt>
    <dgm:pt modelId="{B6F2A7FE-2335-4812-9B5A-902AAF7A727A}" type="pres">
      <dgm:prSet presAssocID="{4EAA7C23-AADA-4A3D-BF05-009E8FBBBA18}" presName="bgRect" presStyleLbl="bgShp" presStyleIdx="3" presStyleCnt="7"/>
      <dgm:spPr/>
    </dgm:pt>
    <dgm:pt modelId="{1BE3B83A-CB89-49F6-BDAF-795B40334D7F}" type="pres">
      <dgm:prSet presAssocID="{4EAA7C23-AADA-4A3D-BF05-009E8FBBBA18}"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sap makinesi"/>
        </a:ext>
      </dgm:extLst>
    </dgm:pt>
    <dgm:pt modelId="{0391DADD-70AC-48B4-90E3-490794069CC0}" type="pres">
      <dgm:prSet presAssocID="{4EAA7C23-AADA-4A3D-BF05-009E8FBBBA18}" presName="spaceRect" presStyleCnt="0"/>
      <dgm:spPr/>
    </dgm:pt>
    <dgm:pt modelId="{D0E4F09A-8851-4572-BD22-4C6718D3AFBF}" type="pres">
      <dgm:prSet presAssocID="{4EAA7C23-AADA-4A3D-BF05-009E8FBBBA18}" presName="parTx" presStyleLbl="revTx" presStyleIdx="3" presStyleCnt="7">
        <dgm:presLayoutVars>
          <dgm:chMax val="0"/>
          <dgm:chPref val="0"/>
        </dgm:presLayoutVars>
      </dgm:prSet>
      <dgm:spPr/>
    </dgm:pt>
    <dgm:pt modelId="{9C20965E-470C-4412-88A5-0712C943DE57}" type="pres">
      <dgm:prSet presAssocID="{9975199C-1E6A-4867-B4F8-5A0CC71012DF}" presName="sibTrans" presStyleCnt="0"/>
      <dgm:spPr/>
    </dgm:pt>
    <dgm:pt modelId="{79A79D64-30B5-46CA-BA44-CB4C35CA2FF2}" type="pres">
      <dgm:prSet presAssocID="{3F494DC4-3F43-4FF9-A019-771E11F3C4E5}" presName="compNode" presStyleCnt="0"/>
      <dgm:spPr/>
    </dgm:pt>
    <dgm:pt modelId="{3FB31C67-6B96-4B0A-8FF7-8E32F1E7DAFF}" type="pres">
      <dgm:prSet presAssocID="{3F494DC4-3F43-4FF9-A019-771E11F3C4E5}" presName="bgRect" presStyleLbl="bgShp" presStyleIdx="4" presStyleCnt="7"/>
      <dgm:spPr/>
    </dgm:pt>
    <dgm:pt modelId="{4B9A2275-8232-47AF-9283-8A7287BF13E1}" type="pres">
      <dgm:prSet presAssocID="{3F494DC4-3F43-4FF9-A019-771E11F3C4E5}"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Kronometre"/>
        </a:ext>
      </dgm:extLst>
    </dgm:pt>
    <dgm:pt modelId="{D753B570-17DD-4D97-ACAC-BF7AA317A089}" type="pres">
      <dgm:prSet presAssocID="{3F494DC4-3F43-4FF9-A019-771E11F3C4E5}" presName="spaceRect" presStyleCnt="0"/>
      <dgm:spPr/>
    </dgm:pt>
    <dgm:pt modelId="{B0140FAB-6214-4F8B-BB7A-910A42206C4A}" type="pres">
      <dgm:prSet presAssocID="{3F494DC4-3F43-4FF9-A019-771E11F3C4E5}" presName="parTx" presStyleLbl="revTx" presStyleIdx="4" presStyleCnt="7">
        <dgm:presLayoutVars>
          <dgm:chMax val="0"/>
          <dgm:chPref val="0"/>
        </dgm:presLayoutVars>
      </dgm:prSet>
      <dgm:spPr/>
    </dgm:pt>
    <dgm:pt modelId="{CFADCE0B-1055-4DEE-8B69-E7672924117C}" type="pres">
      <dgm:prSet presAssocID="{4F663BA4-5991-4624-9CF7-F7226B15ADB2}" presName="sibTrans" presStyleCnt="0"/>
      <dgm:spPr/>
    </dgm:pt>
    <dgm:pt modelId="{3DB1FDB8-635E-4384-9884-331D2AFCBEAD}" type="pres">
      <dgm:prSet presAssocID="{9C10FE7A-4F8C-4856-9C3E-32594B9B13CD}" presName="compNode" presStyleCnt="0"/>
      <dgm:spPr/>
    </dgm:pt>
    <dgm:pt modelId="{EEE3FCC9-7CD3-43B5-B286-82DBE2B33D1C}" type="pres">
      <dgm:prSet presAssocID="{9C10FE7A-4F8C-4856-9C3E-32594B9B13CD}" presName="bgRect" presStyleLbl="bgShp" presStyleIdx="5" presStyleCnt="7"/>
      <dgm:spPr/>
    </dgm:pt>
    <dgm:pt modelId="{43E3C8B1-1B93-4979-B815-4DE216DF5281}" type="pres">
      <dgm:prSet presAssocID="{9C10FE7A-4F8C-4856-9C3E-32594B9B13CD}"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Ölçek"/>
        </a:ext>
      </dgm:extLst>
    </dgm:pt>
    <dgm:pt modelId="{717F33DD-6CB8-4B9C-9E7D-DD5228FED96C}" type="pres">
      <dgm:prSet presAssocID="{9C10FE7A-4F8C-4856-9C3E-32594B9B13CD}" presName="spaceRect" presStyleCnt="0"/>
      <dgm:spPr/>
    </dgm:pt>
    <dgm:pt modelId="{B031CC2D-D036-4C8E-8673-BC4E7513D06A}" type="pres">
      <dgm:prSet presAssocID="{9C10FE7A-4F8C-4856-9C3E-32594B9B13CD}" presName="parTx" presStyleLbl="revTx" presStyleIdx="5" presStyleCnt="7">
        <dgm:presLayoutVars>
          <dgm:chMax val="0"/>
          <dgm:chPref val="0"/>
        </dgm:presLayoutVars>
      </dgm:prSet>
      <dgm:spPr/>
    </dgm:pt>
    <dgm:pt modelId="{4630EA1D-3D63-48CB-ACE5-93CE89013161}" type="pres">
      <dgm:prSet presAssocID="{5D76E184-EA9F-47FA-AB7B-AF3C3C69EE30}" presName="sibTrans" presStyleCnt="0"/>
      <dgm:spPr/>
    </dgm:pt>
    <dgm:pt modelId="{E87929F0-4E20-4FFD-A8A0-90CA2376FB82}" type="pres">
      <dgm:prSet presAssocID="{38EFE064-47E1-47CE-9B1F-A9D873B21E3F}" presName="compNode" presStyleCnt="0"/>
      <dgm:spPr/>
    </dgm:pt>
    <dgm:pt modelId="{D9C05F2C-2461-43BB-A860-76D7B074F4E1}" type="pres">
      <dgm:prSet presAssocID="{38EFE064-47E1-47CE-9B1F-A9D873B21E3F}" presName="bgRect" presStyleLbl="bgShp" presStyleIdx="6" presStyleCnt="7"/>
      <dgm:spPr/>
    </dgm:pt>
    <dgm:pt modelId="{F1C72C89-AD19-4A33-9FA9-E7E8D4B2EB06}" type="pres">
      <dgm:prSet presAssocID="{38EFE064-47E1-47CE-9B1F-A9D873B21E3F}"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Thumbs Up Sign"/>
        </a:ext>
      </dgm:extLst>
    </dgm:pt>
    <dgm:pt modelId="{9355262E-F203-454A-806F-75DF4A5AE02F}" type="pres">
      <dgm:prSet presAssocID="{38EFE064-47E1-47CE-9B1F-A9D873B21E3F}" presName="spaceRect" presStyleCnt="0"/>
      <dgm:spPr/>
    </dgm:pt>
    <dgm:pt modelId="{475CA074-DE81-4212-8E60-51F20ABDB58B}" type="pres">
      <dgm:prSet presAssocID="{38EFE064-47E1-47CE-9B1F-A9D873B21E3F}" presName="parTx" presStyleLbl="revTx" presStyleIdx="6" presStyleCnt="7">
        <dgm:presLayoutVars>
          <dgm:chMax val="0"/>
          <dgm:chPref val="0"/>
        </dgm:presLayoutVars>
      </dgm:prSet>
      <dgm:spPr/>
    </dgm:pt>
  </dgm:ptLst>
  <dgm:cxnLst>
    <dgm:cxn modelId="{2C60AC05-C3F4-4CEE-B4C9-40E2E004E865}" srcId="{CC22D605-85A8-4713-B544-E33C35156E73}" destId="{3451CD82-7010-4440-A4FC-5A9DF781544B}" srcOrd="1" destOrd="0" parTransId="{FD459E62-C688-44C9-856F-49E6C96A5BF8}" sibTransId="{B5C0668E-AB69-47DA-93D0-C7F88816CBB0}"/>
    <dgm:cxn modelId="{2AEAA80E-089B-4240-B002-7FD168BC385A}" srcId="{CC22D605-85A8-4713-B544-E33C35156E73}" destId="{E8B7E638-2524-4D1F-B12A-811EA5D268FE}" srcOrd="0" destOrd="0" parTransId="{EFAC43DD-C07B-44F2-8649-D81A5E865A01}" sibTransId="{858A7479-F98A-4092-83D8-0C1BE37FBF58}"/>
    <dgm:cxn modelId="{12AE333F-7FAE-425E-A0A9-EB13C487A8CC}" type="presOf" srcId="{38EFE064-47E1-47CE-9B1F-A9D873B21E3F}" destId="{475CA074-DE81-4212-8E60-51F20ABDB58B}" srcOrd="0" destOrd="0" presId="urn:microsoft.com/office/officeart/2018/2/layout/IconVerticalSolidList"/>
    <dgm:cxn modelId="{B5D20E5E-1847-4D45-92A2-FCA76B6826F1}" type="presOf" srcId="{4EAA7C23-AADA-4A3D-BF05-009E8FBBBA18}" destId="{D0E4F09A-8851-4572-BD22-4C6718D3AFBF}" srcOrd="0" destOrd="0" presId="urn:microsoft.com/office/officeart/2018/2/layout/IconVerticalSolidList"/>
    <dgm:cxn modelId="{10DD0D44-B186-465B-90D4-9A4816A8F4B5}" type="presOf" srcId="{3F494DC4-3F43-4FF9-A019-771E11F3C4E5}" destId="{B0140FAB-6214-4F8B-BB7A-910A42206C4A}" srcOrd="0" destOrd="0" presId="urn:microsoft.com/office/officeart/2018/2/layout/IconVerticalSolidList"/>
    <dgm:cxn modelId="{7AAF3371-3B49-4925-82C3-4212E3CBC898}" srcId="{CC22D605-85A8-4713-B544-E33C35156E73}" destId="{38EFE064-47E1-47CE-9B1F-A9D873B21E3F}" srcOrd="6" destOrd="0" parTransId="{F21E54DD-4391-4F79-BDFA-3A3F436DE4E6}" sibTransId="{60C9E1B3-1A82-432C-AACF-4FFEA1F8B764}"/>
    <dgm:cxn modelId="{67C53A59-E758-4061-ABA4-7A141FC68A92}" srcId="{CC22D605-85A8-4713-B544-E33C35156E73}" destId="{F750EB55-1E8B-4CD4-A194-14A6B4D8E865}" srcOrd="2" destOrd="0" parTransId="{BB82829E-B15C-47B7-9BA7-C62D83BFCB95}" sibTransId="{9324C600-9489-4760-B5C7-3A8EBAD79918}"/>
    <dgm:cxn modelId="{D739EF82-5CBB-4D37-BE3A-DD1F8FC188AB}" type="presOf" srcId="{9C10FE7A-4F8C-4856-9C3E-32594B9B13CD}" destId="{B031CC2D-D036-4C8E-8673-BC4E7513D06A}" srcOrd="0" destOrd="0" presId="urn:microsoft.com/office/officeart/2018/2/layout/IconVerticalSolidList"/>
    <dgm:cxn modelId="{72A30C87-3133-4BE4-B5CF-2E45501F4E6A}" type="presOf" srcId="{F750EB55-1E8B-4CD4-A194-14A6B4D8E865}" destId="{EFE8715C-1C7B-445A-B9EF-D5CEF5600F2C}" srcOrd="0" destOrd="0" presId="urn:microsoft.com/office/officeart/2018/2/layout/IconVerticalSolidList"/>
    <dgm:cxn modelId="{E2AEA489-ECFC-45E8-BBCB-3A7157C4C4C2}" type="presOf" srcId="{3451CD82-7010-4440-A4FC-5A9DF781544B}" destId="{0391D6EA-EA74-4505-A847-5C13BED0B39A}" srcOrd="0" destOrd="0" presId="urn:microsoft.com/office/officeart/2018/2/layout/IconVerticalSolidList"/>
    <dgm:cxn modelId="{1A83CA8F-88BC-4120-9A30-25045A9B6BEA}" srcId="{CC22D605-85A8-4713-B544-E33C35156E73}" destId="{9C10FE7A-4F8C-4856-9C3E-32594B9B13CD}" srcOrd="5" destOrd="0" parTransId="{902F361E-1343-41EF-ACE8-AECC0CA78372}" sibTransId="{5D76E184-EA9F-47FA-AB7B-AF3C3C69EE30}"/>
    <dgm:cxn modelId="{808991AC-497E-4697-BF9D-C96932960185}" srcId="{CC22D605-85A8-4713-B544-E33C35156E73}" destId="{4EAA7C23-AADA-4A3D-BF05-009E8FBBBA18}" srcOrd="3" destOrd="0" parTransId="{168ECE01-0975-4529-9CE0-69BCBDB6408A}" sibTransId="{9975199C-1E6A-4867-B4F8-5A0CC71012DF}"/>
    <dgm:cxn modelId="{C09C0DE1-CB9F-43F8-9D3E-3565DD1E7078}" srcId="{CC22D605-85A8-4713-B544-E33C35156E73}" destId="{3F494DC4-3F43-4FF9-A019-771E11F3C4E5}" srcOrd="4" destOrd="0" parTransId="{2EBBA2C9-A744-432A-B0A5-D5836EF1DE6C}" sibTransId="{4F663BA4-5991-4624-9CF7-F7226B15ADB2}"/>
    <dgm:cxn modelId="{19B4EEE9-2112-4CCA-BD1B-9BCC35408720}" type="presOf" srcId="{E8B7E638-2524-4D1F-B12A-811EA5D268FE}" destId="{2D5B5194-5E63-4F96-B459-477033B8A64C}" srcOrd="0" destOrd="0" presId="urn:microsoft.com/office/officeart/2018/2/layout/IconVerticalSolidList"/>
    <dgm:cxn modelId="{F05D66F5-4297-4988-B7CD-4ADF26FE5FD5}" type="presOf" srcId="{CC22D605-85A8-4713-B544-E33C35156E73}" destId="{2355B7DF-7163-4EEA-B61F-3E45E374E07E}" srcOrd="0" destOrd="0" presId="urn:microsoft.com/office/officeart/2018/2/layout/IconVerticalSolidList"/>
    <dgm:cxn modelId="{37E4D6B8-523B-4A13-A8E0-702BF9F81880}" type="presParOf" srcId="{2355B7DF-7163-4EEA-B61F-3E45E374E07E}" destId="{B6C23E3F-C1C8-4779-AA18-873E35AC06D9}" srcOrd="0" destOrd="0" presId="urn:microsoft.com/office/officeart/2018/2/layout/IconVerticalSolidList"/>
    <dgm:cxn modelId="{9171C503-82DE-4745-A1AC-33D40130E0D4}" type="presParOf" srcId="{B6C23E3F-C1C8-4779-AA18-873E35AC06D9}" destId="{B2436314-F8CE-411C-B338-64149BB4CB06}" srcOrd="0" destOrd="0" presId="urn:microsoft.com/office/officeart/2018/2/layout/IconVerticalSolidList"/>
    <dgm:cxn modelId="{D24640E6-ADC8-4702-97B4-4E1279A0E4B7}" type="presParOf" srcId="{B6C23E3F-C1C8-4779-AA18-873E35AC06D9}" destId="{E18A2E78-0C23-41F0-8122-25F658C6DB14}" srcOrd="1" destOrd="0" presId="urn:microsoft.com/office/officeart/2018/2/layout/IconVerticalSolidList"/>
    <dgm:cxn modelId="{85B5C107-D50C-41FF-89FF-96A1E0753D88}" type="presParOf" srcId="{B6C23E3F-C1C8-4779-AA18-873E35AC06D9}" destId="{EEEDA0C5-3235-419D-8B67-CFAEA927981B}" srcOrd="2" destOrd="0" presId="urn:microsoft.com/office/officeart/2018/2/layout/IconVerticalSolidList"/>
    <dgm:cxn modelId="{35C77957-9442-4EE3-9CD1-E113C7AFED5E}" type="presParOf" srcId="{B6C23E3F-C1C8-4779-AA18-873E35AC06D9}" destId="{2D5B5194-5E63-4F96-B459-477033B8A64C}" srcOrd="3" destOrd="0" presId="urn:microsoft.com/office/officeart/2018/2/layout/IconVerticalSolidList"/>
    <dgm:cxn modelId="{40787615-AC15-42F5-8B72-A71BDB9B7330}" type="presParOf" srcId="{2355B7DF-7163-4EEA-B61F-3E45E374E07E}" destId="{1DC0366B-364E-403E-A837-6684FC3AE943}" srcOrd="1" destOrd="0" presId="urn:microsoft.com/office/officeart/2018/2/layout/IconVerticalSolidList"/>
    <dgm:cxn modelId="{EC8D742C-6D14-4CC0-B413-FE55EA215737}" type="presParOf" srcId="{2355B7DF-7163-4EEA-B61F-3E45E374E07E}" destId="{12363FD4-867D-4209-90EE-796CCA41A421}" srcOrd="2" destOrd="0" presId="urn:microsoft.com/office/officeart/2018/2/layout/IconVerticalSolidList"/>
    <dgm:cxn modelId="{4960F0FB-C308-43BC-A9D1-FF6F0685C74B}" type="presParOf" srcId="{12363FD4-867D-4209-90EE-796CCA41A421}" destId="{F0F5BDD1-621A-4782-B585-137CE840FD05}" srcOrd="0" destOrd="0" presId="urn:microsoft.com/office/officeart/2018/2/layout/IconVerticalSolidList"/>
    <dgm:cxn modelId="{5FA98E31-F585-4884-9D4C-39BA0A595B4F}" type="presParOf" srcId="{12363FD4-867D-4209-90EE-796CCA41A421}" destId="{65996608-561A-4EBA-BBEA-E0A43A72A66D}" srcOrd="1" destOrd="0" presId="urn:microsoft.com/office/officeart/2018/2/layout/IconVerticalSolidList"/>
    <dgm:cxn modelId="{B859CF36-C26F-4B26-8622-F1954CA02AF2}" type="presParOf" srcId="{12363FD4-867D-4209-90EE-796CCA41A421}" destId="{B2F097C9-CD5F-4A66-992E-D4D6EF9C6C86}" srcOrd="2" destOrd="0" presId="urn:microsoft.com/office/officeart/2018/2/layout/IconVerticalSolidList"/>
    <dgm:cxn modelId="{9E058031-C047-41BF-BA97-F1FC6DAEC81C}" type="presParOf" srcId="{12363FD4-867D-4209-90EE-796CCA41A421}" destId="{0391D6EA-EA74-4505-A847-5C13BED0B39A}" srcOrd="3" destOrd="0" presId="urn:microsoft.com/office/officeart/2018/2/layout/IconVerticalSolidList"/>
    <dgm:cxn modelId="{F929CAA6-96CB-42F2-A1A2-EDD04A966AE6}" type="presParOf" srcId="{2355B7DF-7163-4EEA-B61F-3E45E374E07E}" destId="{4FD3FC2D-63D2-460C-ADC8-A01945DE082E}" srcOrd="3" destOrd="0" presId="urn:microsoft.com/office/officeart/2018/2/layout/IconVerticalSolidList"/>
    <dgm:cxn modelId="{A5BD4569-F25D-4ABA-8D23-23B8CCC5D5E9}" type="presParOf" srcId="{2355B7DF-7163-4EEA-B61F-3E45E374E07E}" destId="{20916666-43A7-4F8B-A606-52503CA9C99E}" srcOrd="4" destOrd="0" presId="urn:microsoft.com/office/officeart/2018/2/layout/IconVerticalSolidList"/>
    <dgm:cxn modelId="{ECF29FBC-BDF5-4793-8B68-B769721E91C7}" type="presParOf" srcId="{20916666-43A7-4F8B-A606-52503CA9C99E}" destId="{BD17A61C-0944-4877-B38B-EE2BE5D8EF71}" srcOrd="0" destOrd="0" presId="urn:microsoft.com/office/officeart/2018/2/layout/IconVerticalSolidList"/>
    <dgm:cxn modelId="{B87E2A19-E986-46FF-8264-A5929C57929E}" type="presParOf" srcId="{20916666-43A7-4F8B-A606-52503CA9C99E}" destId="{18E06EAD-B9BA-4541-88A8-78625BAFF983}" srcOrd="1" destOrd="0" presId="urn:microsoft.com/office/officeart/2018/2/layout/IconVerticalSolidList"/>
    <dgm:cxn modelId="{1BC01D86-C194-476E-829A-FAA5926034F3}" type="presParOf" srcId="{20916666-43A7-4F8B-A606-52503CA9C99E}" destId="{FA3B7602-DD12-42BC-9DD7-8F19EBBE8E67}" srcOrd="2" destOrd="0" presId="urn:microsoft.com/office/officeart/2018/2/layout/IconVerticalSolidList"/>
    <dgm:cxn modelId="{D28B24C3-8A0E-4D8F-A2F0-612800F2BF40}" type="presParOf" srcId="{20916666-43A7-4F8B-A606-52503CA9C99E}" destId="{EFE8715C-1C7B-445A-B9EF-D5CEF5600F2C}" srcOrd="3" destOrd="0" presId="urn:microsoft.com/office/officeart/2018/2/layout/IconVerticalSolidList"/>
    <dgm:cxn modelId="{198C772F-BF6C-446F-A5FA-50EEBA631F88}" type="presParOf" srcId="{2355B7DF-7163-4EEA-B61F-3E45E374E07E}" destId="{3D8C547D-51C8-45FB-972A-311E2387C419}" srcOrd="5" destOrd="0" presId="urn:microsoft.com/office/officeart/2018/2/layout/IconVerticalSolidList"/>
    <dgm:cxn modelId="{CD8835B6-D831-483E-B2CC-F6B3595F53BE}" type="presParOf" srcId="{2355B7DF-7163-4EEA-B61F-3E45E374E07E}" destId="{AAB863AB-AA7D-488F-9797-4E0D15FEF6BC}" srcOrd="6" destOrd="0" presId="urn:microsoft.com/office/officeart/2018/2/layout/IconVerticalSolidList"/>
    <dgm:cxn modelId="{E8856AC9-8CEF-4111-9985-B4062AFB8744}" type="presParOf" srcId="{AAB863AB-AA7D-488F-9797-4E0D15FEF6BC}" destId="{B6F2A7FE-2335-4812-9B5A-902AAF7A727A}" srcOrd="0" destOrd="0" presId="urn:microsoft.com/office/officeart/2018/2/layout/IconVerticalSolidList"/>
    <dgm:cxn modelId="{B680B0A2-0179-4CC9-B67D-01A37774A04F}" type="presParOf" srcId="{AAB863AB-AA7D-488F-9797-4E0D15FEF6BC}" destId="{1BE3B83A-CB89-49F6-BDAF-795B40334D7F}" srcOrd="1" destOrd="0" presId="urn:microsoft.com/office/officeart/2018/2/layout/IconVerticalSolidList"/>
    <dgm:cxn modelId="{D6B76A06-55F8-4FD6-80C9-A105C0212D32}" type="presParOf" srcId="{AAB863AB-AA7D-488F-9797-4E0D15FEF6BC}" destId="{0391DADD-70AC-48B4-90E3-490794069CC0}" srcOrd="2" destOrd="0" presId="urn:microsoft.com/office/officeart/2018/2/layout/IconVerticalSolidList"/>
    <dgm:cxn modelId="{ED298628-952F-48A1-852D-0AC111D7EBE1}" type="presParOf" srcId="{AAB863AB-AA7D-488F-9797-4E0D15FEF6BC}" destId="{D0E4F09A-8851-4572-BD22-4C6718D3AFBF}" srcOrd="3" destOrd="0" presId="urn:microsoft.com/office/officeart/2018/2/layout/IconVerticalSolidList"/>
    <dgm:cxn modelId="{93042206-ED0E-43AF-BBC1-AC30D6CE1CBF}" type="presParOf" srcId="{2355B7DF-7163-4EEA-B61F-3E45E374E07E}" destId="{9C20965E-470C-4412-88A5-0712C943DE57}" srcOrd="7" destOrd="0" presId="urn:microsoft.com/office/officeart/2018/2/layout/IconVerticalSolidList"/>
    <dgm:cxn modelId="{D1946FD4-A8D7-4946-A97F-47362D1D933F}" type="presParOf" srcId="{2355B7DF-7163-4EEA-B61F-3E45E374E07E}" destId="{79A79D64-30B5-46CA-BA44-CB4C35CA2FF2}" srcOrd="8" destOrd="0" presId="urn:microsoft.com/office/officeart/2018/2/layout/IconVerticalSolidList"/>
    <dgm:cxn modelId="{B3385E88-D035-4657-9F5D-C05E9BB290A4}" type="presParOf" srcId="{79A79D64-30B5-46CA-BA44-CB4C35CA2FF2}" destId="{3FB31C67-6B96-4B0A-8FF7-8E32F1E7DAFF}" srcOrd="0" destOrd="0" presId="urn:microsoft.com/office/officeart/2018/2/layout/IconVerticalSolidList"/>
    <dgm:cxn modelId="{AD359086-2077-4E17-B109-DCD37719BF3F}" type="presParOf" srcId="{79A79D64-30B5-46CA-BA44-CB4C35CA2FF2}" destId="{4B9A2275-8232-47AF-9283-8A7287BF13E1}" srcOrd="1" destOrd="0" presId="urn:microsoft.com/office/officeart/2018/2/layout/IconVerticalSolidList"/>
    <dgm:cxn modelId="{6BEDE879-4942-4871-8C68-6415D016808B}" type="presParOf" srcId="{79A79D64-30B5-46CA-BA44-CB4C35CA2FF2}" destId="{D753B570-17DD-4D97-ACAC-BF7AA317A089}" srcOrd="2" destOrd="0" presId="urn:microsoft.com/office/officeart/2018/2/layout/IconVerticalSolidList"/>
    <dgm:cxn modelId="{67B3D2CF-DCD6-415D-9A02-2D4066736F57}" type="presParOf" srcId="{79A79D64-30B5-46CA-BA44-CB4C35CA2FF2}" destId="{B0140FAB-6214-4F8B-BB7A-910A42206C4A}" srcOrd="3" destOrd="0" presId="urn:microsoft.com/office/officeart/2018/2/layout/IconVerticalSolidList"/>
    <dgm:cxn modelId="{24DF0F28-41C4-449E-BA42-2769169F199A}" type="presParOf" srcId="{2355B7DF-7163-4EEA-B61F-3E45E374E07E}" destId="{CFADCE0B-1055-4DEE-8B69-E7672924117C}" srcOrd="9" destOrd="0" presId="urn:microsoft.com/office/officeart/2018/2/layout/IconVerticalSolidList"/>
    <dgm:cxn modelId="{873C64FE-BC60-483B-AA41-B8FB9E39F20D}" type="presParOf" srcId="{2355B7DF-7163-4EEA-B61F-3E45E374E07E}" destId="{3DB1FDB8-635E-4384-9884-331D2AFCBEAD}" srcOrd="10" destOrd="0" presId="urn:microsoft.com/office/officeart/2018/2/layout/IconVerticalSolidList"/>
    <dgm:cxn modelId="{8AFFFE2F-53A6-4733-8070-4FFF0D586585}" type="presParOf" srcId="{3DB1FDB8-635E-4384-9884-331D2AFCBEAD}" destId="{EEE3FCC9-7CD3-43B5-B286-82DBE2B33D1C}" srcOrd="0" destOrd="0" presId="urn:microsoft.com/office/officeart/2018/2/layout/IconVerticalSolidList"/>
    <dgm:cxn modelId="{A2F433FA-182F-4572-BBA7-71C936822E39}" type="presParOf" srcId="{3DB1FDB8-635E-4384-9884-331D2AFCBEAD}" destId="{43E3C8B1-1B93-4979-B815-4DE216DF5281}" srcOrd="1" destOrd="0" presId="urn:microsoft.com/office/officeart/2018/2/layout/IconVerticalSolidList"/>
    <dgm:cxn modelId="{A5DDD2B8-5643-461A-AB81-AF99D30D4802}" type="presParOf" srcId="{3DB1FDB8-635E-4384-9884-331D2AFCBEAD}" destId="{717F33DD-6CB8-4B9C-9E7D-DD5228FED96C}" srcOrd="2" destOrd="0" presId="urn:microsoft.com/office/officeart/2018/2/layout/IconVerticalSolidList"/>
    <dgm:cxn modelId="{1F419DC9-5D6F-4E04-8283-579FE752EC28}" type="presParOf" srcId="{3DB1FDB8-635E-4384-9884-331D2AFCBEAD}" destId="{B031CC2D-D036-4C8E-8673-BC4E7513D06A}" srcOrd="3" destOrd="0" presId="urn:microsoft.com/office/officeart/2018/2/layout/IconVerticalSolidList"/>
    <dgm:cxn modelId="{A18A5A33-2791-4F3B-A005-F8BE63F11B24}" type="presParOf" srcId="{2355B7DF-7163-4EEA-B61F-3E45E374E07E}" destId="{4630EA1D-3D63-48CB-ACE5-93CE89013161}" srcOrd="11" destOrd="0" presId="urn:microsoft.com/office/officeart/2018/2/layout/IconVerticalSolidList"/>
    <dgm:cxn modelId="{CB4DEFCA-0058-4B24-AE55-6DF8F64860FB}" type="presParOf" srcId="{2355B7DF-7163-4EEA-B61F-3E45E374E07E}" destId="{E87929F0-4E20-4FFD-A8A0-90CA2376FB82}" srcOrd="12" destOrd="0" presId="urn:microsoft.com/office/officeart/2018/2/layout/IconVerticalSolidList"/>
    <dgm:cxn modelId="{44E6DBD0-917D-4A30-98D1-79B6A27BC67D}" type="presParOf" srcId="{E87929F0-4E20-4FFD-A8A0-90CA2376FB82}" destId="{D9C05F2C-2461-43BB-A860-76D7B074F4E1}" srcOrd="0" destOrd="0" presId="urn:microsoft.com/office/officeart/2018/2/layout/IconVerticalSolidList"/>
    <dgm:cxn modelId="{13BBBDCA-6854-4291-B9E3-05ED74DB10DC}" type="presParOf" srcId="{E87929F0-4E20-4FFD-A8A0-90CA2376FB82}" destId="{F1C72C89-AD19-4A33-9FA9-E7E8D4B2EB06}" srcOrd="1" destOrd="0" presId="urn:microsoft.com/office/officeart/2018/2/layout/IconVerticalSolidList"/>
    <dgm:cxn modelId="{84B2420B-62DC-4A0F-A8BA-ADE87BF31E3D}" type="presParOf" srcId="{E87929F0-4E20-4FFD-A8A0-90CA2376FB82}" destId="{9355262E-F203-454A-806F-75DF4A5AE02F}" srcOrd="2" destOrd="0" presId="urn:microsoft.com/office/officeart/2018/2/layout/IconVerticalSolidList"/>
    <dgm:cxn modelId="{D17F6231-C705-4B9E-AFD2-BFC5DA998CA5}" type="presParOf" srcId="{E87929F0-4E20-4FFD-A8A0-90CA2376FB82}" destId="{475CA074-DE81-4212-8E60-51F20ABDB58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764D17-9679-4D3D-A316-B612DA691FD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E768AC0-31BF-420F-BA16-54285BCE324F}">
      <dgm:prSet/>
      <dgm:spPr/>
      <dgm:t>
        <a:bodyPr/>
        <a:lstStyle/>
        <a:p>
          <a:r>
            <a:rPr lang="tr-TR"/>
            <a:t>Daha fazla ve çeşitli saldırı senaryosu ile veri setini genişletme</a:t>
          </a:r>
          <a:endParaRPr lang="en-US"/>
        </a:p>
      </dgm:t>
    </dgm:pt>
    <dgm:pt modelId="{E6BBC0ED-AC4B-4F03-807A-3A0B7DA3E08B}" type="parTrans" cxnId="{2DD5EE84-3F34-4A92-BC67-68D5C59C2DC4}">
      <dgm:prSet/>
      <dgm:spPr/>
      <dgm:t>
        <a:bodyPr/>
        <a:lstStyle/>
        <a:p>
          <a:endParaRPr lang="en-US"/>
        </a:p>
      </dgm:t>
    </dgm:pt>
    <dgm:pt modelId="{BE0FB8F9-7280-419D-86CE-5A0B0C76E01B}" type="sibTrans" cxnId="{2DD5EE84-3F34-4A92-BC67-68D5C59C2DC4}">
      <dgm:prSet/>
      <dgm:spPr/>
      <dgm:t>
        <a:bodyPr/>
        <a:lstStyle/>
        <a:p>
          <a:endParaRPr lang="en-US"/>
        </a:p>
      </dgm:t>
    </dgm:pt>
    <dgm:pt modelId="{2BD9ED4B-5DF2-47C6-930A-5D2D8F881BC4}">
      <dgm:prSet/>
      <dgm:spPr/>
      <dgm:t>
        <a:bodyPr/>
        <a:lstStyle/>
        <a:p>
          <a:r>
            <a:rPr lang="tr-TR"/>
            <a:t>Gerçek zamanlı trafik analizi ve canlı izleme entegrasyonu</a:t>
          </a:r>
          <a:endParaRPr lang="en-US"/>
        </a:p>
      </dgm:t>
    </dgm:pt>
    <dgm:pt modelId="{A7263B6E-5984-42DC-BDD3-CF2EEF2F378D}" type="parTrans" cxnId="{426B7C4D-ED61-4A07-BD15-82791268D8FC}">
      <dgm:prSet/>
      <dgm:spPr/>
      <dgm:t>
        <a:bodyPr/>
        <a:lstStyle/>
        <a:p>
          <a:endParaRPr lang="en-US"/>
        </a:p>
      </dgm:t>
    </dgm:pt>
    <dgm:pt modelId="{A28268B0-2D29-4AE2-AC97-062BA379CC57}" type="sibTrans" cxnId="{426B7C4D-ED61-4A07-BD15-82791268D8FC}">
      <dgm:prSet/>
      <dgm:spPr/>
      <dgm:t>
        <a:bodyPr/>
        <a:lstStyle/>
        <a:p>
          <a:endParaRPr lang="en-US"/>
        </a:p>
      </dgm:t>
    </dgm:pt>
    <dgm:pt modelId="{5848271C-F44D-4993-B676-A3D991507C53}">
      <dgm:prSet/>
      <dgm:spPr/>
      <dgm:t>
        <a:bodyPr/>
        <a:lstStyle/>
        <a:p>
          <a:r>
            <a:rPr lang="tr-TR"/>
            <a:t>Model güncelleme/online öğrenme ile adaptif yapı</a:t>
          </a:r>
          <a:endParaRPr lang="en-US"/>
        </a:p>
      </dgm:t>
    </dgm:pt>
    <dgm:pt modelId="{6F3D9CBE-8A38-4259-A4A4-236DDB1FDEC7}" type="parTrans" cxnId="{E14AF130-1D70-428E-9706-0145D69059F6}">
      <dgm:prSet/>
      <dgm:spPr/>
      <dgm:t>
        <a:bodyPr/>
        <a:lstStyle/>
        <a:p>
          <a:endParaRPr lang="en-US"/>
        </a:p>
      </dgm:t>
    </dgm:pt>
    <dgm:pt modelId="{EC694DC9-FFD0-4490-948B-01C4F55CA56A}" type="sibTrans" cxnId="{E14AF130-1D70-428E-9706-0145D69059F6}">
      <dgm:prSet/>
      <dgm:spPr/>
      <dgm:t>
        <a:bodyPr/>
        <a:lstStyle/>
        <a:p>
          <a:endParaRPr lang="en-US"/>
        </a:p>
      </dgm:t>
    </dgm:pt>
    <dgm:pt modelId="{03377780-335C-455B-8E2B-BC30F0CA3346}">
      <dgm:prSet/>
      <dgm:spPr/>
      <dgm:t>
        <a:bodyPr/>
        <a:lstStyle/>
        <a:p>
          <a:r>
            <a:rPr lang="tr-TR"/>
            <a:t>Farklı derin öğrenme mimarileriyle karşılaştırma (LSTM, CNN, Transformer)</a:t>
          </a:r>
          <a:endParaRPr lang="en-US"/>
        </a:p>
      </dgm:t>
    </dgm:pt>
    <dgm:pt modelId="{A4A1EBB2-B68C-414B-9DE6-5FA9C543DF52}" type="parTrans" cxnId="{CCC29596-88EB-489C-9346-613A21F0FE04}">
      <dgm:prSet/>
      <dgm:spPr/>
      <dgm:t>
        <a:bodyPr/>
        <a:lstStyle/>
        <a:p>
          <a:endParaRPr lang="en-US"/>
        </a:p>
      </dgm:t>
    </dgm:pt>
    <dgm:pt modelId="{B324DFE0-1BF1-40C3-AA7D-3007940FFCD6}" type="sibTrans" cxnId="{CCC29596-88EB-489C-9346-613A21F0FE04}">
      <dgm:prSet/>
      <dgm:spPr/>
      <dgm:t>
        <a:bodyPr/>
        <a:lstStyle/>
        <a:p>
          <a:endParaRPr lang="en-US"/>
        </a:p>
      </dgm:t>
    </dgm:pt>
    <dgm:pt modelId="{D3ECCBB5-EDE0-4947-8DF9-E1E85FD93423}">
      <dgm:prSet/>
      <dgm:spPr/>
      <dgm:t>
        <a:bodyPr/>
        <a:lstStyle/>
        <a:p>
          <a:r>
            <a:rPr lang="tr-TR"/>
            <a:t>Kullanıcı arayüzünde daha ayrıntılı rapor ve görselleştirme</a:t>
          </a:r>
          <a:endParaRPr lang="en-US"/>
        </a:p>
      </dgm:t>
    </dgm:pt>
    <dgm:pt modelId="{226895B5-0FFC-4011-90C1-3A4DDA56B4A8}" type="parTrans" cxnId="{955EF1D6-A0F8-4DB6-BFBD-20775B649F44}">
      <dgm:prSet/>
      <dgm:spPr/>
      <dgm:t>
        <a:bodyPr/>
        <a:lstStyle/>
        <a:p>
          <a:endParaRPr lang="en-US"/>
        </a:p>
      </dgm:t>
    </dgm:pt>
    <dgm:pt modelId="{83739C2F-9C3A-4604-B9E7-BD42ED1B1162}" type="sibTrans" cxnId="{955EF1D6-A0F8-4DB6-BFBD-20775B649F44}">
      <dgm:prSet/>
      <dgm:spPr/>
      <dgm:t>
        <a:bodyPr/>
        <a:lstStyle/>
        <a:p>
          <a:endParaRPr lang="en-US"/>
        </a:p>
      </dgm:t>
    </dgm:pt>
    <dgm:pt modelId="{361CEF42-65ED-4506-8180-2E95D704D192}" type="pres">
      <dgm:prSet presAssocID="{48764D17-9679-4D3D-A316-B612DA691FDB}" presName="root" presStyleCnt="0">
        <dgm:presLayoutVars>
          <dgm:dir/>
          <dgm:resizeHandles val="exact"/>
        </dgm:presLayoutVars>
      </dgm:prSet>
      <dgm:spPr/>
    </dgm:pt>
    <dgm:pt modelId="{7A1E994C-04D2-4CD3-9DCF-5B4022E8FCF6}" type="pres">
      <dgm:prSet presAssocID="{2E768AC0-31BF-420F-BA16-54285BCE324F}" presName="compNode" presStyleCnt="0"/>
      <dgm:spPr/>
    </dgm:pt>
    <dgm:pt modelId="{07E465C4-3536-4A2F-9BEF-CBC6552067DE}" type="pres">
      <dgm:prSet presAssocID="{2E768AC0-31BF-420F-BA16-54285BCE324F}" presName="bgRect" presStyleLbl="bgShp" presStyleIdx="0" presStyleCnt="5"/>
      <dgm:spPr/>
    </dgm:pt>
    <dgm:pt modelId="{FAE0BA13-B47D-47CA-80B6-595B02AB32DB}" type="pres">
      <dgm:prSet presAssocID="{2E768AC0-31BF-420F-BA16-54285BCE324F}"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ilgisayar"/>
        </a:ext>
      </dgm:extLst>
    </dgm:pt>
    <dgm:pt modelId="{4909CE59-4A0D-49FC-89F2-DE3BD3471ECD}" type="pres">
      <dgm:prSet presAssocID="{2E768AC0-31BF-420F-BA16-54285BCE324F}" presName="spaceRect" presStyleCnt="0"/>
      <dgm:spPr/>
    </dgm:pt>
    <dgm:pt modelId="{95300489-ED5D-4329-B836-CD1BCE542CB4}" type="pres">
      <dgm:prSet presAssocID="{2E768AC0-31BF-420F-BA16-54285BCE324F}" presName="parTx" presStyleLbl="revTx" presStyleIdx="0" presStyleCnt="5">
        <dgm:presLayoutVars>
          <dgm:chMax val="0"/>
          <dgm:chPref val="0"/>
        </dgm:presLayoutVars>
      </dgm:prSet>
      <dgm:spPr/>
    </dgm:pt>
    <dgm:pt modelId="{2030B4EE-315E-4734-AD91-04CA58B73B32}" type="pres">
      <dgm:prSet presAssocID="{BE0FB8F9-7280-419D-86CE-5A0B0C76E01B}" presName="sibTrans" presStyleCnt="0"/>
      <dgm:spPr/>
    </dgm:pt>
    <dgm:pt modelId="{D1CA78F5-0125-45D0-B5F6-67656FA97640}" type="pres">
      <dgm:prSet presAssocID="{2BD9ED4B-5DF2-47C6-930A-5D2D8F881BC4}" presName="compNode" presStyleCnt="0"/>
      <dgm:spPr/>
    </dgm:pt>
    <dgm:pt modelId="{19393DF7-8739-4308-B659-CB49F1898560}" type="pres">
      <dgm:prSet presAssocID="{2BD9ED4B-5DF2-47C6-930A-5D2D8F881BC4}" presName="bgRect" presStyleLbl="bgShp" presStyleIdx="1" presStyleCnt="5"/>
      <dgm:spPr/>
    </dgm:pt>
    <dgm:pt modelId="{BE7DF5C7-6A5B-49AE-AC41-E0DCE325FAAE}" type="pres">
      <dgm:prSet presAssocID="{2BD9ED4B-5DF2-47C6-930A-5D2D8F881BC4}"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öz"/>
        </a:ext>
      </dgm:extLst>
    </dgm:pt>
    <dgm:pt modelId="{80072191-251F-49DA-B41B-A3CA0AF48BD5}" type="pres">
      <dgm:prSet presAssocID="{2BD9ED4B-5DF2-47C6-930A-5D2D8F881BC4}" presName="spaceRect" presStyleCnt="0"/>
      <dgm:spPr/>
    </dgm:pt>
    <dgm:pt modelId="{4DED76AA-50A0-4534-9B60-FB3F375D1906}" type="pres">
      <dgm:prSet presAssocID="{2BD9ED4B-5DF2-47C6-930A-5D2D8F881BC4}" presName="parTx" presStyleLbl="revTx" presStyleIdx="1" presStyleCnt="5">
        <dgm:presLayoutVars>
          <dgm:chMax val="0"/>
          <dgm:chPref val="0"/>
        </dgm:presLayoutVars>
      </dgm:prSet>
      <dgm:spPr/>
    </dgm:pt>
    <dgm:pt modelId="{94D1F276-0CC1-4EBB-8E70-C67FA6478AD4}" type="pres">
      <dgm:prSet presAssocID="{A28268B0-2D29-4AE2-AC97-062BA379CC57}" presName="sibTrans" presStyleCnt="0"/>
      <dgm:spPr/>
    </dgm:pt>
    <dgm:pt modelId="{6AE351BF-CFFD-4F0F-82A9-8772F5FA24E0}" type="pres">
      <dgm:prSet presAssocID="{5848271C-F44D-4993-B676-A3D991507C53}" presName="compNode" presStyleCnt="0"/>
      <dgm:spPr/>
    </dgm:pt>
    <dgm:pt modelId="{066DFB24-A431-40ED-860F-5C9E7D859711}" type="pres">
      <dgm:prSet presAssocID="{5848271C-F44D-4993-B676-A3D991507C53}" presName="bgRect" presStyleLbl="bgShp" presStyleIdx="2" presStyleCnt="5"/>
      <dgm:spPr/>
    </dgm:pt>
    <dgm:pt modelId="{3CCE66DE-6DED-4E23-8EE0-7213DEFBDFFC}" type="pres">
      <dgm:prSet presAssocID="{5848271C-F44D-4993-B676-A3D991507C53}"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Onay işareti"/>
        </a:ext>
      </dgm:extLst>
    </dgm:pt>
    <dgm:pt modelId="{552C8601-3A8F-4F48-8445-8D48A14443F7}" type="pres">
      <dgm:prSet presAssocID="{5848271C-F44D-4993-B676-A3D991507C53}" presName="spaceRect" presStyleCnt="0"/>
      <dgm:spPr/>
    </dgm:pt>
    <dgm:pt modelId="{D9DC9145-B603-4D89-94F0-631CC31D1CB2}" type="pres">
      <dgm:prSet presAssocID="{5848271C-F44D-4993-B676-A3D991507C53}" presName="parTx" presStyleLbl="revTx" presStyleIdx="2" presStyleCnt="5">
        <dgm:presLayoutVars>
          <dgm:chMax val="0"/>
          <dgm:chPref val="0"/>
        </dgm:presLayoutVars>
      </dgm:prSet>
      <dgm:spPr/>
    </dgm:pt>
    <dgm:pt modelId="{839A60E4-A7C0-4F4F-B353-CE5692221229}" type="pres">
      <dgm:prSet presAssocID="{EC694DC9-FFD0-4490-948B-01C4F55CA56A}" presName="sibTrans" presStyleCnt="0"/>
      <dgm:spPr/>
    </dgm:pt>
    <dgm:pt modelId="{D6DD6E43-D8D4-440C-938F-19CFE48B0E14}" type="pres">
      <dgm:prSet presAssocID="{03377780-335C-455B-8E2B-BC30F0CA3346}" presName="compNode" presStyleCnt="0"/>
      <dgm:spPr/>
    </dgm:pt>
    <dgm:pt modelId="{5387E79E-0361-48CF-A34B-DAFAEEBEA48F}" type="pres">
      <dgm:prSet presAssocID="{03377780-335C-455B-8E2B-BC30F0CA3346}" presName="bgRect" presStyleLbl="bgShp" presStyleIdx="3" presStyleCnt="5"/>
      <dgm:spPr/>
    </dgm:pt>
    <dgm:pt modelId="{992511DC-A562-4F2C-8E19-7E4DBBE72205}" type="pres">
      <dgm:prSet presAssocID="{03377780-335C-455B-8E2B-BC30F0CA3346}"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statistikler"/>
        </a:ext>
      </dgm:extLst>
    </dgm:pt>
    <dgm:pt modelId="{BDCBF72B-0878-4138-9B7E-4CE127519936}" type="pres">
      <dgm:prSet presAssocID="{03377780-335C-455B-8E2B-BC30F0CA3346}" presName="spaceRect" presStyleCnt="0"/>
      <dgm:spPr/>
    </dgm:pt>
    <dgm:pt modelId="{E9A639A1-67A0-4197-8C42-26FD5A93C3AC}" type="pres">
      <dgm:prSet presAssocID="{03377780-335C-455B-8E2B-BC30F0CA3346}" presName="parTx" presStyleLbl="revTx" presStyleIdx="3" presStyleCnt="5">
        <dgm:presLayoutVars>
          <dgm:chMax val="0"/>
          <dgm:chPref val="0"/>
        </dgm:presLayoutVars>
      </dgm:prSet>
      <dgm:spPr/>
    </dgm:pt>
    <dgm:pt modelId="{2909062C-E209-459E-86EE-3E2E95FA0E30}" type="pres">
      <dgm:prSet presAssocID="{B324DFE0-1BF1-40C3-AA7D-3007940FFCD6}" presName="sibTrans" presStyleCnt="0"/>
      <dgm:spPr/>
    </dgm:pt>
    <dgm:pt modelId="{05E21496-4858-4B71-9019-CFA3C79745C5}" type="pres">
      <dgm:prSet presAssocID="{D3ECCBB5-EDE0-4947-8DF9-E1E85FD93423}" presName="compNode" presStyleCnt="0"/>
      <dgm:spPr/>
    </dgm:pt>
    <dgm:pt modelId="{6311CF54-C9CF-48C4-A013-4B8312FC05E5}" type="pres">
      <dgm:prSet presAssocID="{D3ECCBB5-EDE0-4947-8DF9-E1E85FD93423}" presName="bgRect" presStyleLbl="bgShp" presStyleIdx="4" presStyleCnt="5"/>
      <dgm:spPr/>
    </dgm:pt>
    <dgm:pt modelId="{81F899E9-6145-4C13-956C-DC1EBCC4FF86}" type="pres">
      <dgm:prSet presAssocID="{D3ECCBB5-EDE0-4947-8DF9-E1E85FD93423}"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Kullanıcı"/>
        </a:ext>
      </dgm:extLst>
    </dgm:pt>
    <dgm:pt modelId="{97D10C16-EBBD-4B5E-A339-4774548B6BEB}" type="pres">
      <dgm:prSet presAssocID="{D3ECCBB5-EDE0-4947-8DF9-E1E85FD93423}" presName="spaceRect" presStyleCnt="0"/>
      <dgm:spPr/>
    </dgm:pt>
    <dgm:pt modelId="{151ECE11-822A-4906-8C46-D275B8B33F37}" type="pres">
      <dgm:prSet presAssocID="{D3ECCBB5-EDE0-4947-8DF9-E1E85FD93423}" presName="parTx" presStyleLbl="revTx" presStyleIdx="4" presStyleCnt="5">
        <dgm:presLayoutVars>
          <dgm:chMax val="0"/>
          <dgm:chPref val="0"/>
        </dgm:presLayoutVars>
      </dgm:prSet>
      <dgm:spPr/>
    </dgm:pt>
  </dgm:ptLst>
  <dgm:cxnLst>
    <dgm:cxn modelId="{58C9090D-E4DA-494B-BB1B-C02088636205}" type="presOf" srcId="{D3ECCBB5-EDE0-4947-8DF9-E1E85FD93423}" destId="{151ECE11-822A-4906-8C46-D275B8B33F37}" srcOrd="0" destOrd="0" presId="urn:microsoft.com/office/officeart/2018/2/layout/IconVerticalSolidList"/>
    <dgm:cxn modelId="{A18A6310-34E2-4569-96DC-EF5EA9E2AE95}" type="presOf" srcId="{5848271C-F44D-4993-B676-A3D991507C53}" destId="{D9DC9145-B603-4D89-94F0-631CC31D1CB2}" srcOrd="0" destOrd="0" presId="urn:microsoft.com/office/officeart/2018/2/layout/IconVerticalSolidList"/>
    <dgm:cxn modelId="{E14AF130-1D70-428E-9706-0145D69059F6}" srcId="{48764D17-9679-4D3D-A316-B612DA691FDB}" destId="{5848271C-F44D-4993-B676-A3D991507C53}" srcOrd="2" destOrd="0" parTransId="{6F3D9CBE-8A38-4259-A4A4-236DDB1FDEC7}" sibTransId="{EC694DC9-FFD0-4490-948B-01C4F55CA56A}"/>
    <dgm:cxn modelId="{426B7C4D-ED61-4A07-BD15-82791268D8FC}" srcId="{48764D17-9679-4D3D-A316-B612DA691FDB}" destId="{2BD9ED4B-5DF2-47C6-930A-5D2D8F881BC4}" srcOrd="1" destOrd="0" parTransId="{A7263B6E-5984-42DC-BDD3-CF2EEF2F378D}" sibTransId="{A28268B0-2D29-4AE2-AC97-062BA379CC57}"/>
    <dgm:cxn modelId="{2DD5EE84-3F34-4A92-BC67-68D5C59C2DC4}" srcId="{48764D17-9679-4D3D-A316-B612DA691FDB}" destId="{2E768AC0-31BF-420F-BA16-54285BCE324F}" srcOrd="0" destOrd="0" parTransId="{E6BBC0ED-AC4B-4F03-807A-3A0B7DA3E08B}" sibTransId="{BE0FB8F9-7280-419D-86CE-5A0B0C76E01B}"/>
    <dgm:cxn modelId="{CCC29596-88EB-489C-9346-613A21F0FE04}" srcId="{48764D17-9679-4D3D-A316-B612DA691FDB}" destId="{03377780-335C-455B-8E2B-BC30F0CA3346}" srcOrd="3" destOrd="0" parTransId="{A4A1EBB2-B68C-414B-9DE6-5FA9C543DF52}" sibTransId="{B324DFE0-1BF1-40C3-AA7D-3007940FFCD6}"/>
    <dgm:cxn modelId="{BF470298-EE42-409D-A720-26B36D2B4363}" type="presOf" srcId="{2E768AC0-31BF-420F-BA16-54285BCE324F}" destId="{95300489-ED5D-4329-B836-CD1BCE542CB4}" srcOrd="0" destOrd="0" presId="urn:microsoft.com/office/officeart/2018/2/layout/IconVerticalSolidList"/>
    <dgm:cxn modelId="{C709EEA9-0DB6-41DD-8D19-ACF80790A580}" type="presOf" srcId="{2BD9ED4B-5DF2-47C6-930A-5D2D8F881BC4}" destId="{4DED76AA-50A0-4534-9B60-FB3F375D1906}" srcOrd="0" destOrd="0" presId="urn:microsoft.com/office/officeart/2018/2/layout/IconVerticalSolidList"/>
    <dgm:cxn modelId="{AF46D3BC-87DE-4289-B589-32AB6B24C507}" type="presOf" srcId="{03377780-335C-455B-8E2B-BC30F0CA3346}" destId="{E9A639A1-67A0-4197-8C42-26FD5A93C3AC}" srcOrd="0" destOrd="0" presId="urn:microsoft.com/office/officeart/2018/2/layout/IconVerticalSolidList"/>
    <dgm:cxn modelId="{955EF1D6-A0F8-4DB6-BFBD-20775B649F44}" srcId="{48764D17-9679-4D3D-A316-B612DA691FDB}" destId="{D3ECCBB5-EDE0-4947-8DF9-E1E85FD93423}" srcOrd="4" destOrd="0" parTransId="{226895B5-0FFC-4011-90C1-3A4DDA56B4A8}" sibTransId="{83739C2F-9C3A-4604-B9E7-BD42ED1B1162}"/>
    <dgm:cxn modelId="{859015EA-1B5C-4B44-8D39-E9626BC53A36}" type="presOf" srcId="{48764D17-9679-4D3D-A316-B612DA691FDB}" destId="{361CEF42-65ED-4506-8180-2E95D704D192}" srcOrd="0" destOrd="0" presId="urn:microsoft.com/office/officeart/2018/2/layout/IconVerticalSolidList"/>
    <dgm:cxn modelId="{0BD20960-937B-4617-88C1-02185F4B6469}" type="presParOf" srcId="{361CEF42-65ED-4506-8180-2E95D704D192}" destId="{7A1E994C-04D2-4CD3-9DCF-5B4022E8FCF6}" srcOrd="0" destOrd="0" presId="urn:microsoft.com/office/officeart/2018/2/layout/IconVerticalSolidList"/>
    <dgm:cxn modelId="{64B7E8BD-83CD-46CD-A625-08A9AA9BCD57}" type="presParOf" srcId="{7A1E994C-04D2-4CD3-9DCF-5B4022E8FCF6}" destId="{07E465C4-3536-4A2F-9BEF-CBC6552067DE}" srcOrd="0" destOrd="0" presId="urn:microsoft.com/office/officeart/2018/2/layout/IconVerticalSolidList"/>
    <dgm:cxn modelId="{E03DAF62-BC28-4FCC-BF70-B191C4BC6915}" type="presParOf" srcId="{7A1E994C-04D2-4CD3-9DCF-5B4022E8FCF6}" destId="{FAE0BA13-B47D-47CA-80B6-595B02AB32DB}" srcOrd="1" destOrd="0" presId="urn:microsoft.com/office/officeart/2018/2/layout/IconVerticalSolidList"/>
    <dgm:cxn modelId="{5740C658-1BA2-45BD-9B20-D9D058E1F22D}" type="presParOf" srcId="{7A1E994C-04D2-4CD3-9DCF-5B4022E8FCF6}" destId="{4909CE59-4A0D-49FC-89F2-DE3BD3471ECD}" srcOrd="2" destOrd="0" presId="urn:microsoft.com/office/officeart/2018/2/layout/IconVerticalSolidList"/>
    <dgm:cxn modelId="{0910ADD7-BC22-4E89-A358-2BFBECADA35E}" type="presParOf" srcId="{7A1E994C-04D2-4CD3-9DCF-5B4022E8FCF6}" destId="{95300489-ED5D-4329-B836-CD1BCE542CB4}" srcOrd="3" destOrd="0" presId="urn:microsoft.com/office/officeart/2018/2/layout/IconVerticalSolidList"/>
    <dgm:cxn modelId="{F8ACC3FE-F1E5-4158-8087-70D5A052AE26}" type="presParOf" srcId="{361CEF42-65ED-4506-8180-2E95D704D192}" destId="{2030B4EE-315E-4734-AD91-04CA58B73B32}" srcOrd="1" destOrd="0" presId="urn:microsoft.com/office/officeart/2018/2/layout/IconVerticalSolidList"/>
    <dgm:cxn modelId="{3CAB6301-26EB-4FB2-9EB7-8EE91389AC88}" type="presParOf" srcId="{361CEF42-65ED-4506-8180-2E95D704D192}" destId="{D1CA78F5-0125-45D0-B5F6-67656FA97640}" srcOrd="2" destOrd="0" presId="urn:microsoft.com/office/officeart/2018/2/layout/IconVerticalSolidList"/>
    <dgm:cxn modelId="{E8AB335C-35FA-46F7-8F5D-AEAAEBE7512F}" type="presParOf" srcId="{D1CA78F5-0125-45D0-B5F6-67656FA97640}" destId="{19393DF7-8739-4308-B659-CB49F1898560}" srcOrd="0" destOrd="0" presId="urn:microsoft.com/office/officeart/2018/2/layout/IconVerticalSolidList"/>
    <dgm:cxn modelId="{380C609C-9FB6-440E-8767-31E71E4BC51C}" type="presParOf" srcId="{D1CA78F5-0125-45D0-B5F6-67656FA97640}" destId="{BE7DF5C7-6A5B-49AE-AC41-E0DCE325FAAE}" srcOrd="1" destOrd="0" presId="urn:microsoft.com/office/officeart/2018/2/layout/IconVerticalSolidList"/>
    <dgm:cxn modelId="{5229DC5C-0A9B-44BF-8001-7D74E52F4EB5}" type="presParOf" srcId="{D1CA78F5-0125-45D0-B5F6-67656FA97640}" destId="{80072191-251F-49DA-B41B-A3CA0AF48BD5}" srcOrd="2" destOrd="0" presId="urn:microsoft.com/office/officeart/2018/2/layout/IconVerticalSolidList"/>
    <dgm:cxn modelId="{A3CBDC80-D1A1-4269-BEA0-58E007A35857}" type="presParOf" srcId="{D1CA78F5-0125-45D0-B5F6-67656FA97640}" destId="{4DED76AA-50A0-4534-9B60-FB3F375D1906}" srcOrd="3" destOrd="0" presId="urn:microsoft.com/office/officeart/2018/2/layout/IconVerticalSolidList"/>
    <dgm:cxn modelId="{A1EE7339-A112-414C-B469-ABCBE522E99E}" type="presParOf" srcId="{361CEF42-65ED-4506-8180-2E95D704D192}" destId="{94D1F276-0CC1-4EBB-8E70-C67FA6478AD4}" srcOrd="3" destOrd="0" presId="urn:microsoft.com/office/officeart/2018/2/layout/IconVerticalSolidList"/>
    <dgm:cxn modelId="{1C617554-62FE-4966-8957-8713ABED3A55}" type="presParOf" srcId="{361CEF42-65ED-4506-8180-2E95D704D192}" destId="{6AE351BF-CFFD-4F0F-82A9-8772F5FA24E0}" srcOrd="4" destOrd="0" presId="urn:microsoft.com/office/officeart/2018/2/layout/IconVerticalSolidList"/>
    <dgm:cxn modelId="{E3C92A57-7C0E-4517-B22F-06832C6DC6F5}" type="presParOf" srcId="{6AE351BF-CFFD-4F0F-82A9-8772F5FA24E0}" destId="{066DFB24-A431-40ED-860F-5C9E7D859711}" srcOrd="0" destOrd="0" presId="urn:microsoft.com/office/officeart/2018/2/layout/IconVerticalSolidList"/>
    <dgm:cxn modelId="{8E992303-99B0-40E6-8CE4-482D6B9C7587}" type="presParOf" srcId="{6AE351BF-CFFD-4F0F-82A9-8772F5FA24E0}" destId="{3CCE66DE-6DED-4E23-8EE0-7213DEFBDFFC}" srcOrd="1" destOrd="0" presId="urn:microsoft.com/office/officeart/2018/2/layout/IconVerticalSolidList"/>
    <dgm:cxn modelId="{0793DB43-2CDE-41B3-9507-EE2C215E2C4D}" type="presParOf" srcId="{6AE351BF-CFFD-4F0F-82A9-8772F5FA24E0}" destId="{552C8601-3A8F-4F48-8445-8D48A14443F7}" srcOrd="2" destOrd="0" presId="urn:microsoft.com/office/officeart/2018/2/layout/IconVerticalSolidList"/>
    <dgm:cxn modelId="{8CAAB0D9-A318-40D7-A4AB-AFDC787FA93B}" type="presParOf" srcId="{6AE351BF-CFFD-4F0F-82A9-8772F5FA24E0}" destId="{D9DC9145-B603-4D89-94F0-631CC31D1CB2}" srcOrd="3" destOrd="0" presId="urn:microsoft.com/office/officeart/2018/2/layout/IconVerticalSolidList"/>
    <dgm:cxn modelId="{988DCCDD-6DD6-48B8-AEFB-C3205A872EC1}" type="presParOf" srcId="{361CEF42-65ED-4506-8180-2E95D704D192}" destId="{839A60E4-A7C0-4F4F-B353-CE5692221229}" srcOrd="5" destOrd="0" presId="urn:microsoft.com/office/officeart/2018/2/layout/IconVerticalSolidList"/>
    <dgm:cxn modelId="{0D52B29A-E39B-4137-86B9-0F473262EE24}" type="presParOf" srcId="{361CEF42-65ED-4506-8180-2E95D704D192}" destId="{D6DD6E43-D8D4-440C-938F-19CFE48B0E14}" srcOrd="6" destOrd="0" presId="urn:microsoft.com/office/officeart/2018/2/layout/IconVerticalSolidList"/>
    <dgm:cxn modelId="{42BEDCFC-CA05-4A0D-8746-2865CE93F73A}" type="presParOf" srcId="{D6DD6E43-D8D4-440C-938F-19CFE48B0E14}" destId="{5387E79E-0361-48CF-A34B-DAFAEEBEA48F}" srcOrd="0" destOrd="0" presId="urn:microsoft.com/office/officeart/2018/2/layout/IconVerticalSolidList"/>
    <dgm:cxn modelId="{5F8BA81D-A665-4E2F-8DD9-011C7609E206}" type="presParOf" srcId="{D6DD6E43-D8D4-440C-938F-19CFE48B0E14}" destId="{992511DC-A562-4F2C-8E19-7E4DBBE72205}" srcOrd="1" destOrd="0" presId="urn:microsoft.com/office/officeart/2018/2/layout/IconVerticalSolidList"/>
    <dgm:cxn modelId="{747E7B6A-2ECF-43FE-B367-02757A43EB5C}" type="presParOf" srcId="{D6DD6E43-D8D4-440C-938F-19CFE48B0E14}" destId="{BDCBF72B-0878-4138-9B7E-4CE127519936}" srcOrd="2" destOrd="0" presId="urn:microsoft.com/office/officeart/2018/2/layout/IconVerticalSolidList"/>
    <dgm:cxn modelId="{D46D364E-F15D-4D31-AC00-6411ACF9C0B3}" type="presParOf" srcId="{D6DD6E43-D8D4-440C-938F-19CFE48B0E14}" destId="{E9A639A1-67A0-4197-8C42-26FD5A93C3AC}" srcOrd="3" destOrd="0" presId="urn:microsoft.com/office/officeart/2018/2/layout/IconVerticalSolidList"/>
    <dgm:cxn modelId="{D9E57F77-0223-4955-8934-A5077CD9C652}" type="presParOf" srcId="{361CEF42-65ED-4506-8180-2E95D704D192}" destId="{2909062C-E209-459E-86EE-3E2E95FA0E30}" srcOrd="7" destOrd="0" presId="urn:microsoft.com/office/officeart/2018/2/layout/IconVerticalSolidList"/>
    <dgm:cxn modelId="{A2291E3C-B985-49F1-B796-EFF5CEB3CCB0}" type="presParOf" srcId="{361CEF42-65ED-4506-8180-2E95D704D192}" destId="{05E21496-4858-4B71-9019-CFA3C79745C5}" srcOrd="8" destOrd="0" presId="urn:microsoft.com/office/officeart/2018/2/layout/IconVerticalSolidList"/>
    <dgm:cxn modelId="{E86F69DF-6CCA-4DA1-9EFD-F684E3BF0958}" type="presParOf" srcId="{05E21496-4858-4B71-9019-CFA3C79745C5}" destId="{6311CF54-C9CF-48C4-A013-4B8312FC05E5}" srcOrd="0" destOrd="0" presId="urn:microsoft.com/office/officeart/2018/2/layout/IconVerticalSolidList"/>
    <dgm:cxn modelId="{38E42E61-E64E-424C-993E-F1EF38284CA2}" type="presParOf" srcId="{05E21496-4858-4B71-9019-CFA3C79745C5}" destId="{81F899E9-6145-4C13-956C-DC1EBCC4FF86}" srcOrd="1" destOrd="0" presId="urn:microsoft.com/office/officeart/2018/2/layout/IconVerticalSolidList"/>
    <dgm:cxn modelId="{CD817B25-3EF9-49F6-9381-1CC29013F382}" type="presParOf" srcId="{05E21496-4858-4B71-9019-CFA3C79745C5}" destId="{97D10C16-EBBD-4B5E-A339-4774548B6BEB}" srcOrd="2" destOrd="0" presId="urn:microsoft.com/office/officeart/2018/2/layout/IconVerticalSolidList"/>
    <dgm:cxn modelId="{DB76FF88-364D-45A5-9464-512DEB3398E3}" type="presParOf" srcId="{05E21496-4858-4B71-9019-CFA3C79745C5}" destId="{151ECE11-822A-4906-8C46-D275B8B33F3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208DA1-426A-486B-86AC-4651AEF0FDD7}">
      <dsp:nvSpPr>
        <dsp:cNvPr id="0" name=""/>
        <dsp:cNvSpPr/>
      </dsp:nvSpPr>
      <dsp:spPr>
        <a:xfrm>
          <a:off x="0" y="50602"/>
          <a:ext cx="5924550" cy="868725"/>
        </a:xfrm>
        <a:prstGeom prst="roundRect">
          <a:avLst/>
        </a:prstGeom>
        <a:gradFill rotWithShape="0">
          <a:gsLst>
            <a:gs pos="0">
              <a:schemeClr val="accent2">
                <a:hueOff val="0"/>
                <a:satOff val="0"/>
                <a:lumOff val="0"/>
                <a:alphaOff val="0"/>
                <a:tint val="94000"/>
                <a:satMod val="100000"/>
                <a:lumMod val="104000"/>
              </a:schemeClr>
            </a:gs>
            <a:gs pos="69000">
              <a:schemeClr val="accent2">
                <a:hueOff val="0"/>
                <a:satOff val="0"/>
                <a:lumOff val="0"/>
                <a:alphaOff val="0"/>
                <a:shade val="86000"/>
                <a:satMod val="130000"/>
                <a:lumMod val="102000"/>
              </a:schemeClr>
            </a:gs>
            <a:gs pos="100000">
              <a:schemeClr val="accent2">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kern="1200"/>
            <a:t>Ham PCAP verileri okunarak IP/TCP/UDP/ICMP/DNS/HTTP gibi katman ve protokoller ayrıştırıldı.</a:t>
          </a:r>
          <a:endParaRPr lang="en-US" sz="1600" kern="1200"/>
        </a:p>
      </dsp:txBody>
      <dsp:txXfrm>
        <a:off x="42408" y="93010"/>
        <a:ext cx="5839734" cy="783909"/>
      </dsp:txXfrm>
    </dsp:sp>
    <dsp:sp modelId="{6B29585B-6B3B-4DC5-8194-17E6534A39AD}">
      <dsp:nvSpPr>
        <dsp:cNvPr id="0" name=""/>
        <dsp:cNvSpPr/>
      </dsp:nvSpPr>
      <dsp:spPr>
        <a:xfrm>
          <a:off x="0" y="965407"/>
          <a:ext cx="5924550" cy="868725"/>
        </a:xfrm>
        <a:prstGeom prst="roundRect">
          <a:avLst/>
        </a:prstGeom>
        <a:gradFill rotWithShape="0">
          <a:gsLst>
            <a:gs pos="0">
              <a:schemeClr val="accent2">
                <a:hueOff val="553230"/>
                <a:satOff val="2550"/>
                <a:lumOff val="392"/>
                <a:alphaOff val="0"/>
                <a:tint val="94000"/>
                <a:satMod val="100000"/>
                <a:lumMod val="104000"/>
              </a:schemeClr>
            </a:gs>
            <a:gs pos="69000">
              <a:schemeClr val="accent2">
                <a:hueOff val="553230"/>
                <a:satOff val="2550"/>
                <a:lumOff val="392"/>
                <a:alphaOff val="0"/>
                <a:shade val="86000"/>
                <a:satMod val="130000"/>
                <a:lumMod val="102000"/>
              </a:schemeClr>
            </a:gs>
            <a:gs pos="100000">
              <a:schemeClr val="accent2">
                <a:hueOff val="553230"/>
                <a:satOff val="2550"/>
                <a:lumOff val="392"/>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kern="1200"/>
            <a:t>Belirli trafik türleri (ör. HTTP request) filtrelenerek analiz için ilgili paketler seçildi.</a:t>
          </a:r>
          <a:endParaRPr lang="en-US" sz="1600" kern="1200"/>
        </a:p>
      </dsp:txBody>
      <dsp:txXfrm>
        <a:off x="42408" y="1007815"/>
        <a:ext cx="5839734" cy="783909"/>
      </dsp:txXfrm>
    </dsp:sp>
    <dsp:sp modelId="{C88955C9-EB95-42E5-83C1-0C46DD604D1B}">
      <dsp:nvSpPr>
        <dsp:cNvPr id="0" name=""/>
        <dsp:cNvSpPr/>
      </dsp:nvSpPr>
      <dsp:spPr>
        <a:xfrm>
          <a:off x="0" y="1880212"/>
          <a:ext cx="5924550" cy="868725"/>
        </a:xfrm>
        <a:prstGeom prst="roundRect">
          <a:avLst/>
        </a:prstGeom>
        <a:gradFill rotWithShape="0">
          <a:gsLst>
            <a:gs pos="0">
              <a:schemeClr val="accent2">
                <a:hueOff val="1106460"/>
                <a:satOff val="5101"/>
                <a:lumOff val="784"/>
                <a:alphaOff val="0"/>
                <a:tint val="94000"/>
                <a:satMod val="100000"/>
                <a:lumMod val="104000"/>
              </a:schemeClr>
            </a:gs>
            <a:gs pos="69000">
              <a:schemeClr val="accent2">
                <a:hueOff val="1106460"/>
                <a:satOff val="5101"/>
                <a:lumOff val="784"/>
                <a:alphaOff val="0"/>
                <a:shade val="86000"/>
                <a:satMod val="130000"/>
                <a:lumMod val="102000"/>
              </a:schemeClr>
            </a:gs>
            <a:gs pos="100000">
              <a:schemeClr val="accent2">
                <a:hueOff val="1106460"/>
                <a:satOff val="5101"/>
                <a:lumOff val="784"/>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kern="1200"/>
            <a:t>Zaman pencereleri oluşturularak aynı aralıktaki paketler gruplanıp akış bazlı yapıya dönüştürüldü.</a:t>
          </a:r>
          <a:endParaRPr lang="en-US" sz="1600" kern="1200"/>
        </a:p>
      </dsp:txBody>
      <dsp:txXfrm>
        <a:off x="42408" y="1922620"/>
        <a:ext cx="5839734" cy="783909"/>
      </dsp:txXfrm>
    </dsp:sp>
    <dsp:sp modelId="{A9EF987E-B5F1-4BFD-A7E6-A932971987A8}">
      <dsp:nvSpPr>
        <dsp:cNvPr id="0" name=""/>
        <dsp:cNvSpPr/>
      </dsp:nvSpPr>
      <dsp:spPr>
        <a:xfrm>
          <a:off x="0" y="2795017"/>
          <a:ext cx="5924550" cy="868725"/>
        </a:xfrm>
        <a:prstGeom prst="roundRect">
          <a:avLst/>
        </a:prstGeom>
        <a:gradFill rotWithShape="0">
          <a:gsLst>
            <a:gs pos="0">
              <a:schemeClr val="accent2">
                <a:hueOff val="1659690"/>
                <a:satOff val="7651"/>
                <a:lumOff val="1177"/>
                <a:alphaOff val="0"/>
                <a:tint val="94000"/>
                <a:satMod val="100000"/>
                <a:lumMod val="104000"/>
              </a:schemeClr>
            </a:gs>
            <a:gs pos="69000">
              <a:schemeClr val="accent2">
                <a:hueOff val="1659690"/>
                <a:satOff val="7651"/>
                <a:lumOff val="1177"/>
                <a:alphaOff val="0"/>
                <a:shade val="86000"/>
                <a:satMod val="130000"/>
                <a:lumMod val="102000"/>
              </a:schemeClr>
            </a:gs>
            <a:gs pos="100000">
              <a:schemeClr val="accent2">
                <a:hueOff val="1659690"/>
                <a:satOff val="7651"/>
                <a:lumOff val="1177"/>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kern="1200"/>
            <a:t>Boş pencere, hatalı kayıt, eksik ve sonsuz değer içeren örnekler temizlendi. Özellik çıkarımı yapılarak sayısal bir özellik matrisi elde edildi.</a:t>
          </a:r>
          <a:endParaRPr lang="en-US" sz="1600" kern="1200"/>
        </a:p>
      </dsp:txBody>
      <dsp:txXfrm>
        <a:off x="42408" y="2837425"/>
        <a:ext cx="5839734" cy="783909"/>
      </dsp:txXfrm>
    </dsp:sp>
    <dsp:sp modelId="{8910DBD1-F8DF-4569-91C6-138FF964069D}">
      <dsp:nvSpPr>
        <dsp:cNvPr id="0" name=""/>
        <dsp:cNvSpPr/>
      </dsp:nvSpPr>
      <dsp:spPr>
        <a:xfrm>
          <a:off x="0" y="3709822"/>
          <a:ext cx="5924550" cy="868725"/>
        </a:xfrm>
        <a:prstGeom prst="roundRect">
          <a:avLst/>
        </a:prstGeom>
        <a:gradFill rotWithShape="0">
          <a:gsLst>
            <a:gs pos="0">
              <a:schemeClr val="accent2">
                <a:hueOff val="2212920"/>
                <a:satOff val="10201"/>
                <a:lumOff val="1569"/>
                <a:alphaOff val="0"/>
                <a:tint val="94000"/>
                <a:satMod val="100000"/>
                <a:lumMod val="104000"/>
              </a:schemeClr>
            </a:gs>
            <a:gs pos="69000">
              <a:schemeClr val="accent2">
                <a:hueOff val="2212920"/>
                <a:satOff val="10201"/>
                <a:lumOff val="1569"/>
                <a:alphaOff val="0"/>
                <a:shade val="86000"/>
                <a:satMod val="130000"/>
                <a:lumMod val="102000"/>
              </a:schemeClr>
            </a:gs>
            <a:gs pos="100000">
              <a:schemeClr val="accent2">
                <a:hueOff val="2212920"/>
                <a:satOff val="10201"/>
                <a:lumOff val="1569"/>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kern="1200"/>
            <a:t>Veri seti dosya bazlı olarak train/validation/test şeklinde bölündü ve veri sızıntısı önlendi.</a:t>
          </a:r>
          <a:endParaRPr lang="en-US" sz="1600" kern="1200"/>
        </a:p>
      </dsp:txBody>
      <dsp:txXfrm>
        <a:off x="42408" y="3752230"/>
        <a:ext cx="5839734" cy="7839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436314-F8CE-411C-B338-64149BB4CB06}">
      <dsp:nvSpPr>
        <dsp:cNvPr id="0" name=""/>
        <dsp:cNvSpPr/>
      </dsp:nvSpPr>
      <dsp:spPr>
        <a:xfrm>
          <a:off x="0" y="395"/>
          <a:ext cx="5924550" cy="5445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8A2E78-0C23-41F0-8122-25F658C6DB14}">
      <dsp:nvSpPr>
        <dsp:cNvPr id="0" name=""/>
        <dsp:cNvSpPr/>
      </dsp:nvSpPr>
      <dsp:spPr>
        <a:xfrm>
          <a:off x="164715" y="122910"/>
          <a:ext cx="299482" cy="2994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D5B5194-5E63-4F96-B459-477033B8A64C}">
      <dsp:nvSpPr>
        <dsp:cNvPr id="0" name=""/>
        <dsp:cNvSpPr/>
      </dsp:nvSpPr>
      <dsp:spPr>
        <a:xfrm>
          <a:off x="628912" y="395"/>
          <a:ext cx="5295637" cy="544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28" tIns="57628" rIns="57628" bIns="57628" numCol="1" spcCol="1270" anchor="ctr" anchorCtr="0">
          <a:noAutofit/>
        </a:bodyPr>
        <a:lstStyle/>
        <a:p>
          <a:pPr marL="0" lvl="0" indent="0" algn="l" defTabSz="666750">
            <a:lnSpc>
              <a:spcPct val="90000"/>
            </a:lnSpc>
            <a:spcBef>
              <a:spcPct val="0"/>
            </a:spcBef>
            <a:spcAft>
              <a:spcPct val="35000"/>
            </a:spcAft>
            <a:buNone/>
          </a:pPr>
          <a:r>
            <a:rPr lang="tr-TR" sz="1500" kern="1200"/>
            <a:t>Hidden_layers</a:t>
          </a:r>
          <a:endParaRPr lang="en-US" sz="1500" kern="1200"/>
        </a:p>
      </dsp:txBody>
      <dsp:txXfrm>
        <a:off x="628912" y="395"/>
        <a:ext cx="5295637" cy="544512"/>
      </dsp:txXfrm>
    </dsp:sp>
    <dsp:sp modelId="{F0F5BDD1-621A-4782-B585-137CE840FD05}">
      <dsp:nvSpPr>
        <dsp:cNvPr id="0" name=""/>
        <dsp:cNvSpPr/>
      </dsp:nvSpPr>
      <dsp:spPr>
        <a:xfrm>
          <a:off x="0" y="681036"/>
          <a:ext cx="5924550" cy="5445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996608-561A-4EBA-BBEA-E0A43A72A66D}">
      <dsp:nvSpPr>
        <dsp:cNvPr id="0" name=""/>
        <dsp:cNvSpPr/>
      </dsp:nvSpPr>
      <dsp:spPr>
        <a:xfrm>
          <a:off x="164715" y="803551"/>
          <a:ext cx="299482" cy="2994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391D6EA-EA74-4505-A847-5C13BED0B39A}">
      <dsp:nvSpPr>
        <dsp:cNvPr id="0" name=""/>
        <dsp:cNvSpPr/>
      </dsp:nvSpPr>
      <dsp:spPr>
        <a:xfrm>
          <a:off x="628912" y="681036"/>
          <a:ext cx="5295637" cy="544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28" tIns="57628" rIns="57628" bIns="57628" numCol="1" spcCol="1270" anchor="ctr" anchorCtr="0">
          <a:noAutofit/>
        </a:bodyPr>
        <a:lstStyle/>
        <a:p>
          <a:pPr marL="0" lvl="0" indent="0" algn="l" defTabSz="666750">
            <a:lnSpc>
              <a:spcPct val="90000"/>
            </a:lnSpc>
            <a:spcBef>
              <a:spcPct val="0"/>
            </a:spcBef>
            <a:spcAft>
              <a:spcPct val="35000"/>
            </a:spcAft>
            <a:buNone/>
          </a:pPr>
          <a:r>
            <a:rPr lang="tr-TR" sz="1500" kern="1200"/>
            <a:t>Bottleneck_dimension</a:t>
          </a:r>
          <a:endParaRPr lang="en-US" sz="1500" kern="1200"/>
        </a:p>
      </dsp:txBody>
      <dsp:txXfrm>
        <a:off x="628912" y="681036"/>
        <a:ext cx="5295637" cy="544512"/>
      </dsp:txXfrm>
    </dsp:sp>
    <dsp:sp modelId="{BD17A61C-0944-4877-B38B-EE2BE5D8EF71}">
      <dsp:nvSpPr>
        <dsp:cNvPr id="0" name=""/>
        <dsp:cNvSpPr/>
      </dsp:nvSpPr>
      <dsp:spPr>
        <a:xfrm>
          <a:off x="0" y="1361677"/>
          <a:ext cx="5924550" cy="5445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E06EAD-B9BA-4541-88A8-78625BAFF983}">
      <dsp:nvSpPr>
        <dsp:cNvPr id="0" name=""/>
        <dsp:cNvSpPr/>
      </dsp:nvSpPr>
      <dsp:spPr>
        <a:xfrm>
          <a:off x="164715" y="1484192"/>
          <a:ext cx="299482" cy="2994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E8715C-1C7B-445A-B9EF-D5CEF5600F2C}">
      <dsp:nvSpPr>
        <dsp:cNvPr id="0" name=""/>
        <dsp:cNvSpPr/>
      </dsp:nvSpPr>
      <dsp:spPr>
        <a:xfrm>
          <a:off x="628912" y="1361677"/>
          <a:ext cx="5295637" cy="544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28" tIns="57628" rIns="57628" bIns="57628" numCol="1" spcCol="1270" anchor="ctr" anchorCtr="0">
          <a:noAutofit/>
        </a:bodyPr>
        <a:lstStyle/>
        <a:p>
          <a:pPr marL="0" lvl="0" indent="0" algn="l" defTabSz="666750">
            <a:lnSpc>
              <a:spcPct val="90000"/>
            </a:lnSpc>
            <a:spcBef>
              <a:spcPct val="0"/>
            </a:spcBef>
            <a:spcAft>
              <a:spcPct val="35000"/>
            </a:spcAft>
            <a:buNone/>
          </a:pPr>
          <a:r>
            <a:rPr lang="tr-TR" sz="1500" kern="1200"/>
            <a:t>Dropout Rate</a:t>
          </a:r>
          <a:endParaRPr lang="en-US" sz="1500" kern="1200"/>
        </a:p>
      </dsp:txBody>
      <dsp:txXfrm>
        <a:off x="628912" y="1361677"/>
        <a:ext cx="5295637" cy="544512"/>
      </dsp:txXfrm>
    </dsp:sp>
    <dsp:sp modelId="{B6F2A7FE-2335-4812-9B5A-902AAF7A727A}">
      <dsp:nvSpPr>
        <dsp:cNvPr id="0" name=""/>
        <dsp:cNvSpPr/>
      </dsp:nvSpPr>
      <dsp:spPr>
        <a:xfrm>
          <a:off x="0" y="2042318"/>
          <a:ext cx="5924550" cy="5445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3B83A-CB89-49F6-BDAF-795B40334D7F}">
      <dsp:nvSpPr>
        <dsp:cNvPr id="0" name=""/>
        <dsp:cNvSpPr/>
      </dsp:nvSpPr>
      <dsp:spPr>
        <a:xfrm>
          <a:off x="164715" y="2164833"/>
          <a:ext cx="299482" cy="2994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0E4F09A-8851-4572-BD22-4C6718D3AFBF}">
      <dsp:nvSpPr>
        <dsp:cNvPr id="0" name=""/>
        <dsp:cNvSpPr/>
      </dsp:nvSpPr>
      <dsp:spPr>
        <a:xfrm>
          <a:off x="628912" y="2042318"/>
          <a:ext cx="5295637" cy="544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28" tIns="57628" rIns="57628" bIns="57628" numCol="1" spcCol="1270" anchor="ctr" anchorCtr="0">
          <a:noAutofit/>
        </a:bodyPr>
        <a:lstStyle/>
        <a:p>
          <a:pPr marL="0" lvl="0" indent="0" algn="l" defTabSz="666750">
            <a:lnSpc>
              <a:spcPct val="90000"/>
            </a:lnSpc>
            <a:spcBef>
              <a:spcPct val="0"/>
            </a:spcBef>
            <a:spcAft>
              <a:spcPct val="35000"/>
            </a:spcAft>
            <a:buNone/>
          </a:pPr>
          <a:r>
            <a:rPr lang="tr-TR" sz="1500" kern="1200"/>
            <a:t>Learning_rate</a:t>
          </a:r>
          <a:endParaRPr lang="en-US" sz="1500" kern="1200"/>
        </a:p>
      </dsp:txBody>
      <dsp:txXfrm>
        <a:off x="628912" y="2042318"/>
        <a:ext cx="5295637" cy="544512"/>
      </dsp:txXfrm>
    </dsp:sp>
    <dsp:sp modelId="{3FB31C67-6B96-4B0A-8FF7-8E32F1E7DAFF}">
      <dsp:nvSpPr>
        <dsp:cNvPr id="0" name=""/>
        <dsp:cNvSpPr/>
      </dsp:nvSpPr>
      <dsp:spPr>
        <a:xfrm>
          <a:off x="0" y="2722959"/>
          <a:ext cx="5924550" cy="5445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9A2275-8232-47AF-9283-8A7287BF13E1}">
      <dsp:nvSpPr>
        <dsp:cNvPr id="0" name=""/>
        <dsp:cNvSpPr/>
      </dsp:nvSpPr>
      <dsp:spPr>
        <a:xfrm>
          <a:off x="164715" y="2845474"/>
          <a:ext cx="299482" cy="2994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140FAB-6214-4F8B-BB7A-910A42206C4A}">
      <dsp:nvSpPr>
        <dsp:cNvPr id="0" name=""/>
        <dsp:cNvSpPr/>
      </dsp:nvSpPr>
      <dsp:spPr>
        <a:xfrm>
          <a:off x="628912" y="2722959"/>
          <a:ext cx="5295637" cy="544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28" tIns="57628" rIns="57628" bIns="57628" numCol="1" spcCol="1270" anchor="ctr" anchorCtr="0">
          <a:noAutofit/>
        </a:bodyPr>
        <a:lstStyle/>
        <a:p>
          <a:pPr marL="0" lvl="0" indent="0" algn="l" defTabSz="666750">
            <a:lnSpc>
              <a:spcPct val="90000"/>
            </a:lnSpc>
            <a:spcBef>
              <a:spcPct val="0"/>
            </a:spcBef>
            <a:spcAft>
              <a:spcPct val="35000"/>
            </a:spcAft>
            <a:buNone/>
          </a:pPr>
          <a:r>
            <a:rPr lang="tr-TR" sz="1500" kern="1200"/>
            <a:t>Batch_size</a:t>
          </a:r>
          <a:endParaRPr lang="en-US" sz="1500" kern="1200"/>
        </a:p>
      </dsp:txBody>
      <dsp:txXfrm>
        <a:off x="628912" y="2722959"/>
        <a:ext cx="5295637" cy="544512"/>
      </dsp:txXfrm>
    </dsp:sp>
    <dsp:sp modelId="{EEE3FCC9-7CD3-43B5-B286-82DBE2B33D1C}">
      <dsp:nvSpPr>
        <dsp:cNvPr id="0" name=""/>
        <dsp:cNvSpPr/>
      </dsp:nvSpPr>
      <dsp:spPr>
        <a:xfrm>
          <a:off x="0" y="3403600"/>
          <a:ext cx="5924550" cy="5445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E3C8B1-1B93-4979-B815-4DE216DF5281}">
      <dsp:nvSpPr>
        <dsp:cNvPr id="0" name=""/>
        <dsp:cNvSpPr/>
      </dsp:nvSpPr>
      <dsp:spPr>
        <a:xfrm>
          <a:off x="164715" y="3526116"/>
          <a:ext cx="299482" cy="2994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31CC2D-D036-4C8E-8673-BC4E7513D06A}">
      <dsp:nvSpPr>
        <dsp:cNvPr id="0" name=""/>
        <dsp:cNvSpPr/>
      </dsp:nvSpPr>
      <dsp:spPr>
        <a:xfrm>
          <a:off x="628912" y="3403600"/>
          <a:ext cx="5295637" cy="544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28" tIns="57628" rIns="57628" bIns="57628" numCol="1" spcCol="1270" anchor="ctr" anchorCtr="0">
          <a:noAutofit/>
        </a:bodyPr>
        <a:lstStyle/>
        <a:p>
          <a:pPr marL="0" lvl="0" indent="0" algn="l" defTabSz="666750">
            <a:lnSpc>
              <a:spcPct val="90000"/>
            </a:lnSpc>
            <a:spcBef>
              <a:spcPct val="0"/>
            </a:spcBef>
            <a:spcAft>
              <a:spcPct val="35000"/>
            </a:spcAft>
            <a:buNone/>
          </a:pPr>
          <a:r>
            <a:rPr lang="tr-TR" sz="1500" kern="1200"/>
            <a:t>Scaler</a:t>
          </a:r>
          <a:endParaRPr lang="en-US" sz="1500" kern="1200"/>
        </a:p>
      </dsp:txBody>
      <dsp:txXfrm>
        <a:off x="628912" y="3403600"/>
        <a:ext cx="5295637" cy="544512"/>
      </dsp:txXfrm>
    </dsp:sp>
    <dsp:sp modelId="{D9C05F2C-2461-43BB-A860-76D7B074F4E1}">
      <dsp:nvSpPr>
        <dsp:cNvPr id="0" name=""/>
        <dsp:cNvSpPr/>
      </dsp:nvSpPr>
      <dsp:spPr>
        <a:xfrm>
          <a:off x="0" y="4084241"/>
          <a:ext cx="5924550" cy="5445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C72C89-AD19-4A33-9FA9-E7E8D4B2EB06}">
      <dsp:nvSpPr>
        <dsp:cNvPr id="0" name=""/>
        <dsp:cNvSpPr/>
      </dsp:nvSpPr>
      <dsp:spPr>
        <a:xfrm>
          <a:off x="164715" y="4206757"/>
          <a:ext cx="299482" cy="2994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75CA074-DE81-4212-8E60-51F20ABDB58B}">
      <dsp:nvSpPr>
        <dsp:cNvPr id="0" name=""/>
        <dsp:cNvSpPr/>
      </dsp:nvSpPr>
      <dsp:spPr>
        <a:xfrm>
          <a:off x="628912" y="4084241"/>
          <a:ext cx="5295637" cy="544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28" tIns="57628" rIns="57628" bIns="57628" numCol="1" spcCol="1270" anchor="ctr" anchorCtr="0">
          <a:noAutofit/>
        </a:bodyPr>
        <a:lstStyle/>
        <a:p>
          <a:pPr marL="0" lvl="0" indent="0" algn="l" defTabSz="666750">
            <a:lnSpc>
              <a:spcPct val="90000"/>
            </a:lnSpc>
            <a:spcBef>
              <a:spcPct val="0"/>
            </a:spcBef>
            <a:spcAft>
              <a:spcPct val="35000"/>
            </a:spcAft>
            <a:buNone/>
          </a:pPr>
          <a:r>
            <a:rPr lang="tr-TR" sz="1500" kern="1200"/>
            <a:t>gibi parametrelerle en iyi sonucu alabileceğimiz değerler elde edilmiştir.</a:t>
          </a:r>
          <a:endParaRPr lang="en-US" sz="1500" kern="1200"/>
        </a:p>
      </dsp:txBody>
      <dsp:txXfrm>
        <a:off x="628912" y="4084241"/>
        <a:ext cx="5295637" cy="5445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E465C4-3536-4A2F-9BEF-CBC6552067DE}">
      <dsp:nvSpPr>
        <dsp:cNvPr id="0" name=""/>
        <dsp:cNvSpPr/>
      </dsp:nvSpPr>
      <dsp:spPr>
        <a:xfrm>
          <a:off x="0" y="3616"/>
          <a:ext cx="5924550" cy="7703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E0BA13-B47D-47CA-80B6-595B02AB32DB}">
      <dsp:nvSpPr>
        <dsp:cNvPr id="0" name=""/>
        <dsp:cNvSpPr/>
      </dsp:nvSpPr>
      <dsp:spPr>
        <a:xfrm>
          <a:off x="233021" y="176938"/>
          <a:ext cx="423675" cy="4236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300489-ED5D-4329-B836-CD1BCE542CB4}">
      <dsp:nvSpPr>
        <dsp:cNvPr id="0" name=""/>
        <dsp:cNvSpPr/>
      </dsp:nvSpPr>
      <dsp:spPr>
        <a:xfrm>
          <a:off x="889719" y="3616"/>
          <a:ext cx="5034830" cy="770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25" tIns="81525" rIns="81525" bIns="81525" numCol="1" spcCol="1270" anchor="ctr" anchorCtr="0">
          <a:noAutofit/>
        </a:bodyPr>
        <a:lstStyle/>
        <a:p>
          <a:pPr marL="0" lvl="0" indent="0" algn="l" defTabSz="844550">
            <a:lnSpc>
              <a:spcPct val="90000"/>
            </a:lnSpc>
            <a:spcBef>
              <a:spcPct val="0"/>
            </a:spcBef>
            <a:spcAft>
              <a:spcPct val="35000"/>
            </a:spcAft>
            <a:buNone/>
          </a:pPr>
          <a:r>
            <a:rPr lang="tr-TR" sz="1900" kern="1200"/>
            <a:t>Daha fazla ve çeşitli saldırı senaryosu ile veri setini genişletme</a:t>
          </a:r>
          <a:endParaRPr lang="en-US" sz="1900" kern="1200"/>
        </a:p>
      </dsp:txBody>
      <dsp:txXfrm>
        <a:off x="889719" y="3616"/>
        <a:ext cx="5034830" cy="770319"/>
      </dsp:txXfrm>
    </dsp:sp>
    <dsp:sp modelId="{19393DF7-8739-4308-B659-CB49F1898560}">
      <dsp:nvSpPr>
        <dsp:cNvPr id="0" name=""/>
        <dsp:cNvSpPr/>
      </dsp:nvSpPr>
      <dsp:spPr>
        <a:xfrm>
          <a:off x="0" y="966515"/>
          <a:ext cx="5924550" cy="7703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7DF5C7-6A5B-49AE-AC41-E0DCE325FAAE}">
      <dsp:nvSpPr>
        <dsp:cNvPr id="0" name=""/>
        <dsp:cNvSpPr/>
      </dsp:nvSpPr>
      <dsp:spPr>
        <a:xfrm>
          <a:off x="233021" y="1139837"/>
          <a:ext cx="423675" cy="4236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ED76AA-50A0-4534-9B60-FB3F375D1906}">
      <dsp:nvSpPr>
        <dsp:cNvPr id="0" name=""/>
        <dsp:cNvSpPr/>
      </dsp:nvSpPr>
      <dsp:spPr>
        <a:xfrm>
          <a:off x="889719" y="966515"/>
          <a:ext cx="5034830" cy="770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25" tIns="81525" rIns="81525" bIns="81525" numCol="1" spcCol="1270" anchor="ctr" anchorCtr="0">
          <a:noAutofit/>
        </a:bodyPr>
        <a:lstStyle/>
        <a:p>
          <a:pPr marL="0" lvl="0" indent="0" algn="l" defTabSz="844550">
            <a:lnSpc>
              <a:spcPct val="90000"/>
            </a:lnSpc>
            <a:spcBef>
              <a:spcPct val="0"/>
            </a:spcBef>
            <a:spcAft>
              <a:spcPct val="35000"/>
            </a:spcAft>
            <a:buNone/>
          </a:pPr>
          <a:r>
            <a:rPr lang="tr-TR" sz="1900" kern="1200"/>
            <a:t>Gerçek zamanlı trafik analizi ve canlı izleme entegrasyonu</a:t>
          </a:r>
          <a:endParaRPr lang="en-US" sz="1900" kern="1200"/>
        </a:p>
      </dsp:txBody>
      <dsp:txXfrm>
        <a:off x="889719" y="966515"/>
        <a:ext cx="5034830" cy="770319"/>
      </dsp:txXfrm>
    </dsp:sp>
    <dsp:sp modelId="{066DFB24-A431-40ED-860F-5C9E7D859711}">
      <dsp:nvSpPr>
        <dsp:cNvPr id="0" name=""/>
        <dsp:cNvSpPr/>
      </dsp:nvSpPr>
      <dsp:spPr>
        <a:xfrm>
          <a:off x="0" y="1929415"/>
          <a:ext cx="5924550" cy="7703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CE66DE-6DED-4E23-8EE0-7213DEFBDFFC}">
      <dsp:nvSpPr>
        <dsp:cNvPr id="0" name=""/>
        <dsp:cNvSpPr/>
      </dsp:nvSpPr>
      <dsp:spPr>
        <a:xfrm>
          <a:off x="233021" y="2102737"/>
          <a:ext cx="423675" cy="4236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DC9145-B603-4D89-94F0-631CC31D1CB2}">
      <dsp:nvSpPr>
        <dsp:cNvPr id="0" name=""/>
        <dsp:cNvSpPr/>
      </dsp:nvSpPr>
      <dsp:spPr>
        <a:xfrm>
          <a:off x="889719" y="1929415"/>
          <a:ext cx="5034830" cy="770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25" tIns="81525" rIns="81525" bIns="81525" numCol="1" spcCol="1270" anchor="ctr" anchorCtr="0">
          <a:noAutofit/>
        </a:bodyPr>
        <a:lstStyle/>
        <a:p>
          <a:pPr marL="0" lvl="0" indent="0" algn="l" defTabSz="844550">
            <a:lnSpc>
              <a:spcPct val="90000"/>
            </a:lnSpc>
            <a:spcBef>
              <a:spcPct val="0"/>
            </a:spcBef>
            <a:spcAft>
              <a:spcPct val="35000"/>
            </a:spcAft>
            <a:buNone/>
          </a:pPr>
          <a:r>
            <a:rPr lang="tr-TR" sz="1900" kern="1200"/>
            <a:t>Model güncelleme/online öğrenme ile adaptif yapı</a:t>
          </a:r>
          <a:endParaRPr lang="en-US" sz="1900" kern="1200"/>
        </a:p>
      </dsp:txBody>
      <dsp:txXfrm>
        <a:off x="889719" y="1929415"/>
        <a:ext cx="5034830" cy="770319"/>
      </dsp:txXfrm>
    </dsp:sp>
    <dsp:sp modelId="{5387E79E-0361-48CF-A34B-DAFAEEBEA48F}">
      <dsp:nvSpPr>
        <dsp:cNvPr id="0" name=""/>
        <dsp:cNvSpPr/>
      </dsp:nvSpPr>
      <dsp:spPr>
        <a:xfrm>
          <a:off x="0" y="2892314"/>
          <a:ext cx="5924550" cy="7703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2511DC-A562-4F2C-8E19-7E4DBBE72205}">
      <dsp:nvSpPr>
        <dsp:cNvPr id="0" name=""/>
        <dsp:cNvSpPr/>
      </dsp:nvSpPr>
      <dsp:spPr>
        <a:xfrm>
          <a:off x="233021" y="3065636"/>
          <a:ext cx="423675" cy="4236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A639A1-67A0-4197-8C42-26FD5A93C3AC}">
      <dsp:nvSpPr>
        <dsp:cNvPr id="0" name=""/>
        <dsp:cNvSpPr/>
      </dsp:nvSpPr>
      <dsp:spPr>
        <a:xfrm>
          <a:off x="889719" y="2892314"/>
          <a:ext cx="5034830" cy="770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25" tIns="81525" rIns="81525" bIns="81525" numCol="1" spcCol="1270" anchor="ctr" anchorCtr="0">
          <a:noAutofit/>
        </a:bodyPr>
        <a:lstStyle/>
        <a:p>
          <a:pPr marL="0" lvl="0" indent="0" algn="l" defTabSz="844550">
            <a:lnSpc>
              <a:spcPct val="90000"/>
            </a:lnSpc>
            <a:spcBef>
              <a:spcPct val="0"/>
            </a:spcBef>
            <a:spcAft>
              <a:spcPct val="35000"/>
            </a:spcAft>
            <a:buNone/>
          </a:pPr>
          <a:r>
            <a:rPr lang="tr-TR" sz="1900" kern="1200"/>
            <a:t>Farklı derin öğrenme mimarileriyle karşılaştırma (LSTM, CNN, Transformer)</a:t>
          </a:r>
          <a:endParaRPr lang="en-US" sz="1900" kern="1200"/>
        </a:p>
      </dsp:txBody>
      <dsp:txXfrm>
        <a:off x="889719" y="2892314"/>
        <a:ext cx="5034830" cy="770319"/>
      </dsp:txXfrm>
    </dsp:sp>
    <dsp:sp modelId="{6311CF54-C9CF-48C4-A013-4B8312FC05E5}">
      <dsp:nvSpPr>
        <dsp:cNvPr id="0" name=""/>
        <dsp:cNvSpPr/>
      </dsp:nvSpPr>
      <dsp:spPr>
        <a:xfrm>
          <a:off x="0" y="3855213"/>
          <a:ext cx="5924550" cy="7703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F899E9-6145-4C13-956C-DC1EBCC4FF86}">
      <dsp:nvSpPr>
        <dsp:cNvPr id="0" name=""/>
        <dsp:cNvSpPr/>
      </dsp:nvSpPr>
      <dsp:spPr>
        <a:xfrm>
          <a:off x="233021" y="4028535"/>
          <a:ext cx="423675" cy="4236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1ECE11-822A-4906-8C46-D275B8B33F37}">
      <dsp:nvSpPr>
        <dsp:cNvPr id="0" name=""/>
        <dsp:cNvSpPr/>
      </dsp:nvSpPr>
      <dsp:spPr>
        <a:xfrm>
          <a:off x="889719" y="3855213"/>
          <a:ext cx="5034830" cy="770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25" tIns="81525" rIns="81525" bIns="81525" numCol="1" spcCol="1270" anchor="ctr" anchorCtr="0">
          <a:noAutofit/>
        </a:bodyPr>
        <a:lstStyle/>
        <a:p>
          <a:pPr marL="0" lvl="0" indent="0" algn="l" defTabSz="844550">
            <a:lnSpc>
              <a:spcPct val="90000"/>
            </a:lnSpc>
            <a:spcBef>
              <a:spcPct val="0"/>
            </a:spcBef>
            <a:spcAft>
              <a:spcPct val="35000"/>
            </a:spcAft>
            <a:buNone/>
          </a:pPr>
          <a:r>
            <a:rPr lang="tr-TR" sz="1900" kern="1200"/>
            <a:t>Kullanıcı arayüzünde daha ayrıntılı rapor ve görselleştirme</a:t>
          </a:r>
          <a:endParaRPr lang="en-US" sz="1900" kern="1200"/>
        </a:p>
      </dsp:txBody>
      <dsp:txXfrm>
        <a:off x="889719" y="3855213"/>
        <a:ext cx="5034830" cy="77031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tr-TR"/>
              <a:t>Asıl başlık stilini düzenlemek için tıklayın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9164714F-67B5-4632-AB79-60E3B46AE0C5}" type="datetimeFigureOut">
              <a:rPr lang="tr-TR" smtClean="0"/>
              <a:t>30.05.2026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1206175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164714F-67B5-4632-AB79-60E3B46AE0C5}" type="datetimeFigureOut">
              <a:rPr lang="tr-TR" smtClean="0"/>
              <a:t>30.05.2026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3193369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9164714F-67B5-4632-AB79-60E3B46AE0C5}" type="datetimeFigureOut">
              <a:rPr lang="tr-TR" smtClean="0"/>
              <a:t>30.05.2026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757898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9164714F-67B5-4632-AB79-60E3B46AE0C5}" type="datetimeFigureOut">
              <a:rPr lang="tr-TR" smtClean="0"/>
              <a:t>30.05.2026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208637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913795" y="2912232"/>
            <a:ext cx="5107208" cy="287896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72200" y="2912232"/>
            <a:ext cx="5095357" cy="287896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9164714F-67B5-4632-AB79-60E3B46AE0C5}" type="datetimeFigureOut">
              <a:rPr lang="tr-TR" smtClean="0"/>
              <a:t>30.05.2026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1678177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9164714F-67B5-4632-AB79-60E3B46AE0C5}" type="datetimeFigureOut">
              <a:rPr lang="tr-TR" smtClean="0"/>
              <a:t>30.05.2026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983573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64714F-67B5-4632-AB79-60E3B46AE0C5}" type="datetimeFigureOut">
              <a:rPr lang="tr-TR" smtClean="0"/>
              <a:t>30.05.2026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4189556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tr-TR"/>
              <a:t>Asıl başlık stilini düzenlemek için tıklayın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64714F-67B5-4632-AB79-60E3B46AE0C5}" type="datetimeFigureOut">
              <a:rPr lang="tr-TR" smtClean="0"/>
              <a:t>30.05.2026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799680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64714F-67B5-4632-AB79-60E3B46AE0C5}" type="datetimeFigureOut">
              <a:rPr lang="tr-TR" smtClean="0"/>
              <a:t>30.05.2026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186343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64714F-67B5-4632-AB79-60E3B46AE0C5}" type="datetimeFigureOut">
              <a:rPr lang="tr-TR" smtClean="0"/>
              <a:t>30.05.2026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2523140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64714F-67B5-4632-AB79-60E3B46AE0C5}" type="datetimeFigureOut">
              <a:rPr lang="tr-TR" smtClean="0"/>
              <a:t>30.05.2026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506737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64714F-67B5-4632-AB79-60E3B46AE0C5}" type="datetimeFigureOut">
              <a:rPr lang="tr-TR" smtClean="0"/>
              <a:t>30.05.2026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A096471-BF64-4D55-9D28-9DB25AEE80D7}" type="slidenum">
              <a:rPr lang="tr-TR" smtClean="0"/>
              <a:t>‹#›</a:t>
            </a:fld>
            <a:endParaRPr lang="tr-TR"/>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12125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164714F-67B5-4632-AB79-60E3B46AE0C5}" type="datetimeFigureOut">
              <a:rPr lang="tr-TR" smtClean="0"/>
              <a:t>30.05.2026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19526533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9164714F-67B5-4632-AB79-60E3B46AE0C5}" type="datetimeFigureOut">
              <a:rPr lang="tr-TR" smtClean="0"/>
              <a:t>30.05.2026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3346668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9164714F-67B5-4632-AB79-60E3B46AE0C5}" type="datetimeFigureOut">
              <a:rPr lang="tr-TR" smtClean="0"/>
              <a:t>30.05.2026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1094067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164714F-67B5-4632-AB79-60E3B46AE0C5}" type="datetimeFigureOut">
              <a:rPr lang="tr-TR" smtClean="0"/>
              <a:t>30.05.2026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37949689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164714F-67B5-4632-AB79-60E3B46AE0C5}" type="datetimeFigureOut">
              <a:rPr lang="tr-TR" smtClean="0"/>
              <a:t>30.05.2026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A096471-BF64-4D55-9D28-9DB25AEE80D7}" type="slidenum">
              <a:rPr lang="tr-TR" smtClean="0"/>
              <a:t>‹#›</a:t>
            </a:fld>
            <a:endParaRPr lang="tr-TR"/>
          </a:p>
        </p:txBody>
      </p:sp>
    </p:spTree>
    <p:extLst>
      <p:ext uri="{BB962C8B-B14F-4D97-AF65-F5344CB8AC3E}">
        <p14:creationId xmlns:p14="http://schemas.microsoft.com/office/powerpoint/2010/main" val="1897763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164714F-67B5-4632-AB79-60E3B46AE0C5}" type="datetimeFigureOut">
              <a:rPr lang="tr-TR" smtClean="0"/>
              <a:t>30.05.2026</a:t>
            </a:fld>
            <a:endParaRPr lang="tr-TR"/>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A096471-BF64-4D55-9D28-9DB25AEE80D7}" type="slidenum">
              <a:rPr lang="tr-TR" smtClean="0"/>
              <a:t>‹#›</a:t>
            </a:fld>
            <a:endParaRPr lang="tr-TR"/>
          </a:p>
        </p:txBody>
      </p:sp>
    </p:spTree>
    <p:extLst>
      <p:ext uri="{BB962C8B-B14F-4D97-AF65-F5344CB8AC3E}">
        <p14:creationId xmlns:p14="http://schemas.microsoft.com/office/powerpoint/2010/main" val="385837530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hyperlink" Target="https://gitlab.com/wireshark/wireshark/-/wikis/Development/LibpcapFileFormat" TargetMode="External"/><Relationship Id="rId2" Type="http://schemas.openxmlformats.org/officeDocument/2006/relationships/hyperlink" Target="https://www.deeplearningbook.org/contents/autoencoders.html" TargetMode="External"/><Relationship Id="rId1" Type="http://schemas.openxmlformats.org/officeDocument/2006/relationships/slideLayout" Target="../slideLayouts/slideLayout2.xml"/><Relationship Id="rId6" Type="http://schemas.openxmlformats.org/officeDocument/2006/relationships/hyperlink" Target="https://medium.com/@sanket.nadargi1/autoencoders-b49f4a4e3588" TargetMode="External"/><Relationship Id="rId5" Type="http://schemas.openxmlformats.org/officeDocument/2006/relationships/hyperlink" Target="https://github.com/sampathv95/Network-Intrusion-Detection?utm_source=chatgpt.com" TargetMode="External"/><Relationship Id="rId4" Type="http://schemas.openxmlformats.org/officeDocument/2006/relationships/hyperlink" Target="https://fastapi.tiangolo.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93F8A0FC-88B7-0EC6-5C67-75F6B5CBE5D5}"/>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0068059-9097-4F05-BA38-CDD7DBF77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164A015-EDB3-4688-8B77-925530541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51035"/>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DEF8A4A-6FB9-E799-AE30-69B8D003AF31}"/>
              </a:ext>
            </a:extLst>
          </p:cNvPr>
          <p:cNvSpPr>
            <a:spLocks noGrp="1"/>
          </p:cNvSpPr>
          <p:nvPr>
            <p:ph type="ctrTitle"/>
          </p:nvPr>
        </p:nvSpPr>
        <p:spPr>
          <a:xfrm>
            <a:off x="913794" y="643467"/>
            <a:ext cx="9600217" cy="3585834"/>
          </a:xfrm>
        </p:spPr>
        <p:txBody>
          <a:bodyPr>
            <a:normAutofit/>
          </a:bodyPr>
          <a:lstStyle/>
          <a:p>
            <a:pPr algn="l"/>
            <a:r>
              <a:rPr lang="tr-TR" sz="7200">
                <a:latin typeface="Bahnschrift SemiBold" panose="020B0502040204020203" pitchFamily="34" charset="0"/>
              </a:rPr>
              <a:t>NETanomaı</a:t>
            </a:r>
          </a:p>
        </p:txBody>
      </p:sp>
      <p:sp>
        <p:nvSpPr>
          <p:cNvPr id="3" name="Alt Başlık 2">
            <a:extLst>
              <a:ext uri="{FF2B5EF4-FFF2-40B4-BE49-F238E27FC236}">
                <a16:creationId xmlns:a16="http://schemas.microsoft.com/office/drawing/2014/main" id="{A46CB690-DAEB-4ABE-3D0B-2D067D28E2B4}"/>
              </a:ext>
            </a:extLst>
          </p:cNvPr>
          <p:cNvSpPr>
            <a:spLocks noGrp="1"/>
          </p:cNvSpPr>
          <p:nvPr>
            <p:ph type="subTitle" idx="1"/>
          </p:nvPr>
        </p:nvSpPr>
        <p:spPr>
          <a:xfrm>
            <a:off x="913794" y="4872767"/>
            <a:ext cx="9600217" cy="1424165"/>
          </a:xfrm>
        </p:spPr>
        <p:txBody>
          <a:bodyPr>
            <a:normAutofit/>
          </a:bodyPr>
          <a:lstStyle/>
          <a:p>
            <a:pPr algn="l">
              <a:lnSpc>
                <a:spcPct val="110000"/>
              </a:lnSpc>
            </a:pPr>
            <a:r>
              <a:rPr lang="tr-TR" sz="2200" dirty="0" err="1"/>
              <a:t>Autoencoder</a:t>
            </a:r>
            <a:r>
              <a:rPr lang="tr-TR" sz="2200" dirty="0"/>
              <a:t> Tabanlı Denetimsiz Öğrenme Ağ Trafiği Tespit Sistemi</a:t>
            </a:r>
          </a:p>
          <a:p>
            <a:pPr algn="l">
              <a:lnSpc>
                <a:spcPct val="110000"/>
              </a:lnSpc>
            </a:pPr>
            <a:r>
              <a:rPr lang="tr-TR" sz="2200" dirty="0"/>
              <a:t>Yapay Sinir Ağlarına Giriş- </a:t>
            </a:r>
            <a:r>
              <a:rPr lang="tr-TR" sz="2200" dirty="0">
                <a:effectLst/>
              </a:rPr>
              <a:t>Dr. Öğr. Üyesi Turgut DOĞAN</a:t>
            </a:r>
            <a:endParaRPr lang="tr-TR" sz="2200" dirty="0"/>
          </a:p>
          <a:p>
            <a:pPr algn="l">
              <a:lnSpc>
                <a:spcPct val="110000"/>
              </a:lnSpc>
            </a:pPr>
            <a:endParaRPr lang="tr-TR" sz="2200" dirty="0"/>
          </a:p>
        </p:txBody>
      </p:sp>
    </p:spTree>
    <p:extLst>
      <p:ext uri="{BB962C8B-B14F-4D97-AF65-F5344CB8AC3E}">
        <p14:creationId xmlns:p14="http://schemas.microsoft.com/office/powerpoint/2010/main" val="2532116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42F51C34-DE69-9F28-A44B-991E3881E6D7}"/>
              </a:ext>
            </a:extLst>
          </p:cNvPr>
          <p:cNvPicPr>
            <a:picLocks noChangeAspect="1"/>
          </p:cNvPicPr>
          <p:nvPr/>
        </p:nvPicPr>
        <p:blipFill>
          <a:blip r:embed="rId3">
            <a:alphaModFix amt="35000"/>
            <a:extLst>
              <a:ext uri="{28A0092B-C50C-407E-A947-70E740481C1C}">
                <a14:useLocalDpi xmlns:a14="http://schemas.microsoft.com/office/drawing/2010/main" val="0"/>
              </a:ext>
            </a:extLst>
          </a:blip>
          <a:srcRect l="415"/>
          <a:stretch>
            <a:fillRect/>
          </a:stretch>
        </p:blipFill>
        <p:spPr>
          <a:xfrm>
            <a:off x="20" y="2030"/>
            <a:ext cx="12191980" cy="6855970"/>
          </a:xfrm>
          <a:prstGeom prst="rect">
            <a:avLst/>
          </a:prstGeom>
        </p:spPr>
      </p:pic>
      <p:sp>
        <p:nvSpPr>
          <p:cNvPr id="12" name="Rectangle 9">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Başlık 1">
            <a:extLst>
              <a:ext uri="{FF2B5EF4-FFF2-40B4-BE49-F238E27FC236}">
                <a16:creationId xmlns:a16="http://schemas.microsoft.com/office/drawing/2014/main" id="{4ECC06D0-C49B-42DE-E770-D12505A2D699}"/>
              </a:ext>
            </a:extLst>
          </p:cNvPr>
          <p:cNvSpPr>
            <a:spLocks noGrp="1"/>
          </p:cNvSpPr>
          <p:nvPr>
            <p:ph type="title"/>
          </p:nvPr>
        </p:nvSpPr>
        <p:spPr>
          <a:xfrm>
            <a:off x="913795" y="609600"/>
            <a:ext cx="10353761" cy="1326321"/>
          </a:xfrm>
        </p:spPr>
        <p:txBody>
          <a:bodyPr>
            <a:normAutofit/>
          </a:bodyPr>
          <a:lstStyle/>
          <a:p>
            <a:r>
              <a:rPr lang="tr-TR" dirty="0">
                <a:latin typeface="Bahnschrift SemiBold" panose="020B0502040204020203" pitchFamily="34" charset="0"/>
              </a:rPr>
              <a:t>Ekip üyelerimiz</a:t>
            </a:r>
          </a:p>
        </p:txBody>
      </p:sp>
      <p:sp>
        <p:nvSpPr>
          <p:cNvPr id="3" name="İçerik Yer Tutucusu 2">
            <a:extLst>
              <a:ext uri="{FF2B5EF4-FFF2-40B4-BE49-F238E27FC236}">
                <a16:creationId xmlns:a16="http://schemas.microsoft.com/office/drawing/2014/main" id="{240D1B2B-5F0B-1508-CD06-29FE86FCFD89}"/>
              </a:ext>
            </a:extLst>
          </p:cNvPr>
          <p:cNvSpPr>
            <a:spLocks noGrp="1"/>
          </p:cNvSpPr>
          <p:nvPr>
            <p:ph idx="1"/>
          </p:nvPr>
        </p:nvSpPr>
        <p:spPr>
          <a:xfrm>
            <a:off x="913795" y="2096064"/>
            <a:ext cx="10353762" cy="3695136"/>
          </a:xfrm>
        </p:spPr>
        <p:txBody>
          <a:bodyPr>
            <a:normAutofit/>
          </a:bodyPr>
          <a:lstStyle/>
          <a:p>
            <a:r>
              <a:rPr lang="tr-TR" dirty="0"/>
              <a:t>1201602810 – Atahan Birinci</a:t>
            </a:r>
          </a:p>
          <a:p>
            <a:r>
              <a:rPr lang="tr-TR" dirty="0"/>
              <a:t>1221602636 – Çağatay Özel</a:t>
            </a:r>
          </a:p>
          <a:p>
            <a:r>
              <a:rPr lang="tr-TR" dirty="0"/>
              <a:t>1221602087 – Gökay Yıldız</a:t>
            </a:r>
          </a:p>
          <a:p>
            <a:r>
              <a:rPr lang="tr-TR" dirty="0"/>
              <a:t>1221602080 – Tarık Güngör</a:t>
            </a:r>
          </a:p>
          <a:p>
            <a:r>
              <a:rPr lang="tr-TR" dirty="0"/>
              <a:t>1221602085 – Ufuk Soydan</a:t>
            </a:r>
          </a:p>
          <a:p>
            <a:endParaRPr lang="tr-TR" dirty="0"/>
          </a:p>
        </p:txBody>
      </p:sp>
    </p:spTree>
    <p:extLst>
      <p:ext uri="{BB962C8B-B14F-4D97-AF65-F5344CB8AC3E}">
        <p14:creationId xmlns:p14="http://schemas.microsoft.com/office/powerpoint/2010/main" val="657650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AB7D74-8FB9-4CA4-A7F3-0B7839BA55DE}"/>
              </a:ext>
            </a:extLst>
          </p:cNvPr>
          <p:cNvSpPr>
            <a:spLocks noGrp="1"/>
          </p:cNvSpPr>
          <p:nvPr>
            <p:ph type="title"/>
          </p:nvPr>
        </p:nvSpPr>
        <p:spPr>
          <a:xfrm>
            <a:off x="8499854" y="643467"/>
            <a:ext cx="2767702" cy="997640"/>
          </a:xfrm>
        </p:spPr>
        <p:txBody>
          <a:bodyPr anchor="b">
            <a:normAutofit/>
          </a:bodyPr>
          <a:lstStyle/>
          <a:p>
            <a:pPr algn="l"/>
            <a:r>
              <a:rPr lang="tr-TR" sz="1600">
                <a:latin typeface="Bahnschrift SemiBold" panose="020B0502040204020203" pitchFamily="34" charset="0"/>
              </a:rPr>
              <a:t>İÇERİKLER</a:t>
            </a:r>
          </a:p>
        </p:txBody>
      </p:sp>
      <p:pic>
        <p:nvPicPr>
          <p:cNvPr id="7" name="Graphic 6" descr="Dizüstü Güvenli">
            <a:extLst>
              <a:ext uri="{FF2B5EF4-FFF2-40B4-BE49-F238E27FC236}">
                <a16:creationId xmlns:a16="http://schemas.microsoft.com/office/drawing/2014/main" id="{C4173EFE-07E7-EA09-A2D5-94CDECB766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64394" y="643467"/>
            <a:ext cx="5571066" cy="5571066"/>
          </a:xfrm>
          <a:prstGeom prst="rect">
            <a:avLst/>
          </a:prstGeom>
          <a:scene3d>
            <a:camera prst="orthographicFront"/>
            <a:lightRig rig="twoPt" dir="t">
              <a:rot lat="0" lon="0" rev="7200000"/>
            </a:lightRig>
          </a:scene3d>
          <a:sp3d>
            <a:bevelT w="25400" h="19050"/>
          </a:sp3d>
        </p:spPr>
      </p:pic>
      <p:sp>
        <p:nvSpPr>
          <p:cNvPr id="3" name="İçerik Yer Tutucusu 2">
            <a:extLst>
              <a:ext uri="{FF2B5EF4-FFF2-40B4-BE49-F238E27FC236}">
                <a16:creationId xmlns:a16="http://schemas.microsoft.com/office/drawing/2014/main" id="{12F0A08C-56C0-D18E-65A6-8A1CBB5CB3FA}"/>
              </a:ext>
            </a:extLst>
          </p:cNvPr>
          <p:cNvSpPr>
            <a:spLocks noGrp="1"/>
          </p:cNvSpPr>
          <p:nvPr>
            <p:ph idx="1"/>
          </p:nvPr>
        </p:nvSpPr>
        <p:spPr>
          <a:xfrm>
            <a:off x="8499855" y="1641108"/>
            <a:ext cx="2767702" cy="4573426"/>
          </a:xfrm>
        </p:spPr>
        <p:txBody>
          <a:bodyPr anchor="ctr">
            <a:normAutofit/>
          </a:bodyPr>
          <a:lstStyle/>
          <a:p>
            <a:r>
              <a:rPr lang="tr-TR" sz="1200" dirty="0"/>
              <a:t>Giriş ve Proje Amacı</a:t>
            </a:r>
          </a:p>
          <a:p>
            <a:r>
              <a:rPr lang="tr-TR" sz="1200" dirty="0"/>
              <a:t>Veri Üretimi</a:t>
            </a:r>
          </a:p>
          <a:p>
            <a:r>
              <a:rPr lang="tr-TR" sz="1200" dirty="0"/>
              <a:t>Veri İşleme</a:t>
            </a:r>
          </a:p>
          <a:p>
            <a:r>
              <a:rPr lang="tr-TR" sz="1200" dirty="0"/>
              <a:t>Veri Seti Oluşturma</a:t>
            </a:r>
          </a:p>
          <a:p>
            <a:r>
              <a:rPr lang="tr-TR" sz="1200" dirty="0"/>
              <a:t>Model Mimarisi</a:t>
            </a:r>
          </a:p>
          <a:p>
            <a:r>
              <a:rPr lang="tr-TR" sz="1200" dirty="0"/>
              <a:t>Eğitim Süreci</a:t>
            </a:r>
          </a:p>
          <a:p>
            <a:r>
              <a:rPr lang="tr-TR" sz="1200" dirty="0" err="1"/>
              <a:t>Hiperparametre</a:t>
            </a:r>
            <a:r>
              <a:rPr lang="tr-TR" sz="1200" dirty="0"/>
              <a:t> Optimizasyonu</a:t>
            </a:r>
          </a:p>
          <a:p>
            <a:r>
              <a:rPr lang="tr-TR" sz="1200" dirty="0"/>
              <a:t>Kullanıcı Arayüzü ve </a:t>
            </a:r>
            <a:r>
              <a:rPr lang="tr-TR" sz="1200" dirty="0" err="1"/>
              <a:t>Backend</a:t>
            </a:r>
            <a:r>
              <a:rPr lang="tr-TR" sz="1200" dirty="0"/>
              <a:t> işlemleri</a:t>
            </a:r>
          </a:p>
          <a:p>
            <a:r>
              <a:rPr lang="tr-TR" sz="1200" dirty="0"/>
              <a:t>Sonuçlar</a:t>
            </a:r>
          </a:p>
          <a:p>
            <a:r>
              <a:rPr lang="tr-TR" sz="1200" dirty="0"/>
              <a:t>Karşılaştırmalı Analiz</a:t>
            </a:r>
          </a:p>
          <a:p>
            <a:r>
              <a:rPr lang="tr-TR" sz="1200" dirty="0"/>
              <a:t>Proje Özeti ve Geliştirilebilir Tarafları</a:t>
            </a:r>
          </a:p>
        </p:txBody>
      </p:sp>
    </p:spTree>
    <p:extLst>
      <p:ext uri="{BB962C8B-B14F-4D97-AF65-F5344CB8AC3E}">
        <p14:creationId xmlns:p14="http://schemas.microsoft.com/office/powerpoint/2010/main" val="3974598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F7E8EB6-9F6F-D996-5E4A-1928B62BF158}"/>
              </a:ext>
            </a:extLst>
          </p:cNvPr>
          <p:cNvSpPr>
            <a:spLocks noGrp="1"/>
          </p:cNvSpPr>
          <p:nvPr>
            <p:ph type="title"/>
          </p:nvPr>
        </p:nvSpPr>
        <p:spPr>
          <a:xfrm>
            <a:off x="4927472" y="609600"/>
            <a:ext cx="6340084" cy="1326321"/>
          </a:xfrm>
        </p:spPr>
        <p:txBody>
          <a:bodyPr>
            <a:normAutofit/>
          </a:bodyPr>
          <a:lstStyle/>
          <a:p>
            <a:r>
              <a:rPr lang="tr-TR" dirty="0">
                <a:latin typeface="Bahnschrift SemiBold" panose="020B0502040204020203" pitchFamily="34" charset="0"/>
              </a:rPr>
              <a:t>Giriş</a:t>
            </a:r>
          </a:p>
        </p:txBody>
      </p:sp>
      <p:pic>
        <p:nvPicPr>
          <p:cNvPr id="11" name="Picture 4" descr="Pembe renk üzerinde ağdan oluşan soyut arka plan">
            <a:extLst>
              <a:ext uri="{FF2B5EF4-FFF2-40B4-BE49-F238E27FC236}">
                <a16:creationId xmlns:a16="http://schemas.microsoft.com/office/drawing/2014/main" id="{1B4A0D25-B52A-6FCC-12F4-87D84DB2EE32}"/>
              </a:ext>
            </a:extLst>
          </p:cNvPr>
          <p:cNvPicPr>
            <a:picLocks noChangeAspect="1"/>
          </p:cNvPicPr>
          <p:nvPr/>
        </p:nvPicPr>
        <p:blipFill>
          <a:blip r:embed="rId3"/>
          <a:srcRect l="33774" r="21102" b="-1"/>
          <a:stretch>
            <a:fillRect/>
          </a:stretch>
        </p:blipFill>
        <p:spPr>
          <a:xfrm>
            <a:off x="20" y="10"/>
            <a:ext cx="4635987" cy="6857990"/>
          </a:xfrm>
          <a:prstGeom prst="rect">
            <a:avLst/>
          </a:prstGeom>
        </p:spPr>
      </p:pic>
      <p:sp>
        <p:nvSpPr>
          <p:cNvPr id="3" name="İçerik Yer Tutucusu 2">
            <a:extLst>
              <a:ext uri="{FF2B5EF4-FFF2-40B4-BE49-F238E27FC236}">
                <a16:creationId xmlns:a16="http://schemas.microsoft.com/office/drawing/2014/main" id="{E28BF7D6-A683-45DD-7AEA-A6F29D4AC400}"/>
              </a:ext>
            </a:extLst>
          </p:cNvPr>
          <p:cNvSpPr>
            <a:spLocks noGrp="1"/>
          </p:cNvSpPr>
          <p:nvPr>
            <p:ph idx="1"/>
          </p:nvPr>
        </p:nvSpPr>
        <p:spPr>
          <a:xfrm>
            <a:off x="4927471" y="2096064"/>
            <a:ext cx="6340085" cy="3695136"/>
          </a:xfrm>
        </p:spPr>
        <p:txBody>
          <a:bodyPr>
            <a:normAutofit/>
          </a:bodyPr>
          <a:lstStyle/>
          <a:p>
            <a:pPr>
              <a:lnSpc>
                <a:spcPct val="110000"/>
              </a:lnSpc>
            </a:pPr>
            <a:r>
              <a:rPr lang="tr-TR" sz="1600" dirty="0"/>
              <a:t>Günümüzde ağ sistemlerinin yaygınlaşmasıyla birlikte siber saldırılar ve olağandışı ağ davranışları önemli bir güvenlik problemi haline gelmiştir. Geleneksel güvenlik yöntemleri, sürekli gelişen saldırı türlerini tespit etmekte yetersiz kalabilmektedir. Bu projede, ağ trafiğinde meydana gelen anormal davranışların makine öğrenmesi ve derin öğrenme teknikleri kullanılarak tespit edilmesi amaçlanmıştır. Çalışma kapsamında normal ve anormal ağ trafiği verileri üretilmiş, Wireshark aracılığıyla toplanmış ve çeşitli ön işleme adımlarından geçirilerek veri seti oluşturulmuştur. Elde edilen veri seti üzerinde derin öğrenme modelleri eğitilerek ağ anomalilerinin yüksek doğrulukla tespit edilmesi hedeflenmiştir.</a:t>
            </a:r>
          </a:p>
        </p:txBody>
      </p:sp>
      <p:cxnSp>
        <p:nvCxnSpPr>
          <p:cNvPr id="12" name="Straight Connector 8">
            <a:extLst>
              <a:ext uri="{FF2B5EF4-FFF2-40B4-BE49-F238E27FC236}">
                <a16:creationId xmlns:a16="http://schemas.microsoft.com/office/drawing/2014/main" id="{E2A31A05-19BB-4F84-9402-E8569CBDBD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6007"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694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A86682C-8635-FE85-CE4E-9786C400BB72}"/>
              </a:ext>
            </a:extLst>
          </p:cNvPr>
          <p:cNvSpPr>
            <a:spLocks noGrp="1"/>
          </p:cNvSpPr>
          <p:nvPr>
            <p:ph type="title"/>
          </p:nvPr>
        </p:nvSpPr>
        <p:spPr>
          <a:xfrm>
            <a:off x="6513534" y="609600"/>
            <a:ext cx="4754022" cy="1326321"/>
          </a:xfrm>
        </p:spPr>
        <p:txBody>
          <a:bodyPr>
            <a:normAutofit/>
          </a:bodyPr>
          <a:lstStyle/>
          <a:p>
            <a:r>
              <a:rPr lang="tr-TR" dirty="0">
                <a:latin typeface="Bahnschrift SemiBold" panose="020B0502040204020203" pitchFamily="34" charset="0"/>
              </a:rPr>
              <a:t>Projenin amacı</a:t>
            </a:r>
          </a:p>
        </p:txBody>
      </p:sp>
      <p:pic>
        <p:nvPicPr>
          <p:cNvPr id="5" name="Picture 4" descr="Bağlı olan çizgiler ve noktalar bir ağı temsil eder">
            <a:extLst>
              <a:ext uri="{FF2B5EF4-FFF2-40B4-BE49-F238E27FC236}">
                <a16:creationId xmlns:a16="http://schemas.microsoft.com/office/drawing/2014/main" id="{DAFDD192-F947-2846-96A0-B469737DA307}"/>
              </a:ext>
            </a:extLst>
          </p:cNvPr>
          <p:cNvPicPr>
            <a:picLocks noChangeAspect="1"/>
          </p:cNvPicPr>
          <p:nvPr/>
        </p:nvPicPr>
        <p:blipFill>
          <a:blip r:embed="rId3"/>
          <a:srcRect l="26380" r="23620"/>
          <a:stretch>
            <a:fillRect/>
          </a:stretch>
        </p:blipFill>
        <p:spPr>
          <a:xfrm>
            <a:off x="20" y="10"/>
            <a:ext cx="6095980" cy="6857990"/>
          </a:xfrm>
          <a:prstGeom prst="rect">
            <a:avLst/>
          </a:prstGeom>
        </p:spPr>
      </p:pic>
      <p:sp>
        <p:nvSpPr>
          <p:cNvPr id="3" name="İçerik Yer Tutucusu 2">
            <a:extLst>
              <a:ext uri="{FF2B5EF4-FFF2-40B4-BE49-F238E27FC236}">
                <a16:creationId xmlns:a16="http://schemas.microsoft.com/office/drawing/2014/main" id="{1DC24686-F009-F6E6-FB2D-36580D22188D}"/>
              </a:ext>
            </a:extLst>
          </p:cNvPr>
          <p:cNvSpPr>
            <a:spLocks noGrp="1"/>
          </p:cNvSpPr>
          <p:nvPr>
            <p:ph idx="1"/>
          </p:nvPr>
        </p:nvSpPr>
        <p:spPr>
          <a:xfrm>
            <a:off x="6513534" y="2096064"/>
            <a:ext cx="4754022" cy="3695136"/>
          </a:xfrm>
        </p:spPr>
        <p:txBody>
          <a:bodyPr>
            <a:normAutofit/>
          </a:bodyPr>
          <a:lstStyle/>
          <a:p>
            <a:pPr>
              <a:lnSpc>
                <a:spcPct val="110000"/>
              </a:lnSpc>
            </a:pPr>
            <a:r>
              <a:rPr lang="tr-TR" sz="1900" dirty="0"/>
              <a:t>Bu projenin amacı, ağ trafiğinde meydana gelen anormal davranışları derin öğrenme yöntemleri kullanarak tespit edebilen bir model geliştirmektir. Bu kapsamda normal ve saldırı trafiği verileri üretilmiş, işlenmiş ve oluşturulan veri seti üzerinde çeşitli modeller eğitilerek performansları karşılaştırılmıştır. Kullanıcı odaklı bir arayüz ve </a:t>
            </a:r>
            <a:r>
              <a:rPr lang="tr-TR" sz="1900" dirty="0" err="1"/>
              <a:t>backend</a:t>
            </a:r>
            <a:r>
              <a:rPr lang="tr-TR" sz="1900" dirty="0"/>
              <a:t> sistemi ile de daha kullanışlı hale getirilmiştir</a:t>
            </a:r>
          </a:p>
        </p:txBody>
      </p:sp>
      <p:cxnSp>
        <p:nvCxnSpPr>
          <p:cNvPr id="9" name="Straight Connector 8">
            <a:extLst>
              <a:ext uri="{FF2B5EF4-FFF2-40B4-BE49-F238E27FC236}">
                <a16:creationId xmlns:a16="http://schemas.microsoft.com/office/drawing/2014/main" id="{E0DCF65E-F84E-483D-83D7-A1616D5691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06560"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253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CDF6C27-C594-037C-5EEB-5D14BC1AC7B2}"/>
              </a:ext>
            </a:extLst>
          </p:cNvPr>
          <p:cNvSpPr>
            <a:spLocks noGrp="1"/>
          </p:cNvSpPr>
          <p:nvPr>
            <p:ph type="title"/>
          </p:nvPr>
        </p:nvSpPr>
        <p:spPr>
          <a:xfrm>
            <a:off x="913796" y="927100"/>
            <a:ext cx="3418766" cy="4616450"/>
          </a:xfrm>
        </p:spPr>
        <p:txBody>
          <a:bodyPr>
            <a:normAutofit/>
          </a:bodyPr>
          <a:lstStyle/>
          <a:p>
            <a:r>
              <a:rPr lang="tr-TR" dirty="0">
                <a:latin typeface="Bahnschrift SemiBold" panose="020B0502040204020203" pitchFamily="34" charset="0"/>
              </a:rPr>
              <a:t>Veri ÜRETİMİ</a:t>
            </a:r>
          </a:p>
        </p:txBody>
      </p:sp>
      <p:cxnSp>
        <p:nvCxnSpPr>
          <p:cNvPr id="10" name="Straight Connector 9">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8B6A7B87-C45E-71DC-9597-3B4D30AFE087}"/>
              </a:ext>
            </a:extLst>
          </p:cNvPr>
          <p:cNvSpPr>
            <a:spLocks noGrp="1"/>
          </p:cNvSpPr>
          <p:nvPr>
            <p:ph idx="1"/>
          </p:nvPr>
        </p:nvSpPr>
        <p:spPr>
          <a:xfrm>
            <a:off x="4976029" y="971549"/>
            <a:ext cx="6291528" cy="4616450"/>
          </a:xfrm>
        </p:spPr>
        <p:txBody>
          <a:bodyPr anchor="ctr">
            <a:normAutofit fontScale="92500" lnSpcReduction="10000"/>
          </a:bodyPr>
          <a:lstStyle/>
          <a:p>
            <a:r>
              <a:rPr lang="tr-TR" dirty="0">
                <a:effectLst/>
              </a:rPr>
              <a:t>Bu çalışmada veri üretimi iki ana sınıfa ayrılmıştır: normal trafik ve anomali trafik. Normal veriler, gerçekçi kullanıcı davranışlarını yansıtacak şekilde üretilmiş ve temiz ağ trafiği PCAPNG kayıtları olarak toplanmıştır. Bu kayıtlar veri setinde normal sınıfı temsil eder ve modelin alışılagelmiş ağ davranışını öğrenebilmesi için temel referans olarak kullanılmıştır. Anomali verileri ise Kali Linux kullanılarak Windows makinelere saldırı yapılması sonucu elde edilmiştir. Bu veriler de test aşamasında kullanılmıştır.</a:t>
            </a:r>
          </a:p>
          <a:p>
            <a:pPr marL="0" indent="0">
              <a:buNone/>
            </a:pPr>
            <a:br>
              <a:rPr lang="tr-TR" dirty="0"/>
            </a:br>
            <a:endParaRPr lang="tr-TR" dirty="0"/>
          </a:p>
        </p:txBody>
      </p:sp>
    </p:spTree>
    <p:extLst>
      <p:ext uri="{BB962C8B-B14F-4D97-AF65-F5344CB8AC3E}">
        <p14:creationId xmlns:p14="http://schemas.microsoft.com/office/powerpoint/2010/main" val="3134189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29088C9-A4AE-126F-9FDB-A8BCE814513C}"/>
              </a:ext>
            </a:extLst>
          </p:cNvPr>
          <p:cNvSpPr>
            <a:spLocks noGrp="1"/>
          </p:cNvSpPr>
          <p:nvPr>
            <p:ph type="title"/>
          </p:nvPr>
        </p:nvSpPr>
        <p:spPr/>
        <p:txBody>
          <a:bodyPr/>
          <a:lstStyle/>
          <a:p>
            <a:r>
              <a:rPr lang="tr-TR" dirty="0">
                <a:latin typeface="Bahnschrift SemiBold" panose="020B0502040204020203" pitchFamily="34" charset="0"/>
              </a:rPr>
              <a:t>VERİ ÜRETİM AŞAMALARI</a:t>
            </a:r>
          </a:p>
        </p:txBody>
      </p:sp>
      <p:sp>
        <p:nvSpPr>
          <p:cNvPr id="3" name="Metin Yer Tutucusu 2">
            <a:extLst>
              <a:ext uri="{FF2B5EF4-FFF2-40B4-BE49-F238E27FC236}">
                <a16:creationId xmlns:a16="http://schemas.microsoft.com/office/drawing/2014/main" id="{458123AC-A775-5B56-B9FA-199A1B4B0BAD}"/>
              </a:ext>
            </a:extLst>
          </p:cNvPr>
          <p:cNvSpPr>
            <a:spLocks noGrp="1"/>
          </p:cNvSpPr>
          <p:nvPr>
            <p:ph type="body" idx="1"/>
          </p:nvPr>
        </p:nvSpPr>
        <p:spPr/>
        <p:txBody>
          <a:bodyPr/>
          <a:lstStyle/>
          <a:p>
            <a:pPr algn="ctr"/>
            <a:r>
              <a:rPr lang="tr-TR" dirty="0">
                <a:latin typeface="Bahnschrift SemiBold" panose="020B0502040204020203" pitchFamily="34" charset="0"/>
              </a:rPr>
              <a:t>NORMAL VERİLER</a:t>
            </a:r>
          </a:p>
        </p:txBody>
      </p:sp>
      <p:sp>
        <p:nvSpPr>
          <p:cNvPr id="4" name="İçerik Yer Tutucusu 3">
            <a:extLst>
              <a:ext uri="{FF2B5EF4-FFF2-40B4-BE49-F238E27FC236}">
                <a16:creationId xmlns:a16="http://schemas.microsoft.com/office/drawing/2014/main" id="{44B2BD3A-1C70-9D42-E2B2-2819785CDD17}"/>
              </a:ext>
            </a:extLst>
          </p:cNvPr>
          <p:cNvSpPr>
            <a:spLocks noGrp="1"/>
          </p:cNvSpPr>
          <p:nvPr>
            <p:ph sz="half" idx="2"/>
          </p:nvPr>
        </p:nvSpPr>
        <p:spPr/>
        <p:txBody>
          <a:bodyPr/>
          <a:lstStyle/>
          <a:p>
            <a:r>
              <a:rPr lang="tr-TR" dirty="0"/>
              <a:t>Ağı dinlemek için wireshark kullanıldı.</a:t>
            </a:r>
          </a:p>
          <a:p>
            <a:r>
              <a:rPr lang="tr-TR" dirty="0"/>
              <a:t>Temel kullanıcı işlemleri ele alındı.(Youtube’da video izleme, blog sitelerinde dolaşma, büyük boyutlu </a:t>
            </a:r>
            <a:r>
              <a:rPr lang="tr-TR" dirty="0" err="1"/>
              <a:t>zip</a:t>
            </a:r>
            <a:r>
              <a:rPr lang="tr-TR" dirty="0"/>
              <a:t> indirme, e-ticaret sitelerinde dolaşma…)</a:t>
            </a:r>
          </a:p>
        </p:txBody>
      </p:sp>
      <p:sp>
        <p:nvSpPr>
          <p:cNvPr id="5" name="Metin Yer Tutucusu 4">
            <a:extLst>
              <a:ext uri="{FF2B5EF4-FFF2-40B4-BE49-F238E27FC236}">
                <a16:creationId xmlns:a16="http://schemas.microsoft.com/office/drawing/2014/main" id="{47AE9EDA-C305-0C77-0EEB-0064DE19B1B7}"/>
              </a:ext>
            </a:extLst>
          </p:cNvPr>
          <p:cNvSpPr>
            <a:spLocks noGrp="1"/>
          </p:cNvSpPr>
          <p:nvPr>
            <p:ph type="body" sz="quarter" idx="3"/>
          </p:nvPr>
        </p:nvSpPr>
        <p:spPr/>
        <p:txBody>
          <a:bodyPr/>
          <a:lstStyle/>
          <a:p>
            <a:pPr algn="ctr"/>
            <a:r>
              <a:rPr lang="tr-TR" dirty="0">
                <a:latin typeface="Bahnschrift SemiBold" panose="020B0502040204020203" pitchFamily="34" charset="0"/>
              </a:rPr>
              <a:t>  ANOMALİ VERİLERİ</a:t>
            </a:r>
          </a:p>
        </p:txBody>
      </p:sp>
      <p:sp>
        <p:nvSpPr>
          <p:cNvPr id="6" name="İçerik Yer Tutucusu 5">
            <a:extLst>
              <a:ext uri="{FF2B5EF4-FFF2-40B4-BE49-F238E27FC236}">
                <a16:creationId xmlns:a16="http://schemas.microsoft.com/office/drawing/2014/main" id="{51178906-558A-2496-FD2C-CC0953E021F4}"/>
              </a:ext>
            </a:extLst>
          </p:cNvPr>
          <p:cNvSpPr>
            <a:spLocks noGrp="1"/>
          </p:cNvSpPr>
          <p:nvPr>
            <p:ph sz="quarter" idx="4"/>
          </p:nvPr>
        </p:nvSpPr>
        <p:spPr/>
        <p:txBody>
          <a:bodyPr/>
          <a:lstStyle/>
          <a:p>
            <a:r>
              <a:rPr lang="tr-TR" dirty="0"/>
              <a:t>Ağı dinlemek için wireshark kullandı</a:t>
            </a:r>
          </a:p>
          <a:p>
            <a:r>
              <a:rPr lang="tr-TR" dirty="0"/>
              <a:t>Kali linux ile Windows makinelere saldırılar yapıldı.(SYN Scan, SYN Flood, HTTP Request Burst, XMASS Scan…)</a:t>
            </a:r>
          </a:p>
        </p:txBody>
      </p:sp>
    </p:spTree>
    <p:extLst>
      <p:ext uri="{BB962C8B-B14F-4D97-AF65-F5344CB8AC3E}">
        <p14:creationId xmlns:p14="http://schemas.microsoft.com/office/powerpoint/2010/main" val="1390597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EBE52F45-4723-EEBD-7461-2E53D24898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5890" y="0"/>
            <a:ext cx="6276109" cy="4640835"/>
          </a:xfrm>
          <a:prstGeom prst="rect">
            <a:avLst/>
          </a:prstGeom>
        </p:spPr>
      </p:pic>
      <p:pic>
        <p:nvPicPr>
          <p:cNvPr id="7" name="Resim 6">
            <a:extLst>
              <a:ext uri="{FF2B5EF4-FFF2-40B4-BE49-F238E27FC236}">
                <a16:creationId xmlns:a16="http://schemas.microsoft.com/office/drawing/2014/main" id="{C4BA6239-B108-E9CE-3BB1-17040B2D7B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915891" cy="464083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9" name="Metin kutusu 8">
            <a:extLst>
              <a:ext uri="{FF2B5EF4-FFF2-40B4-BE49-F238E27FC236}">
                <a16:creationId xmlns:a16="http://schemas.microsoft.com/office/drawing/2014/main" id="{AB2AAF76-825F-8E6F-20F2-4647EE4962CF}"/>
              </a:ext>
            </a:extLst>
          </p:cNvPr>
          <p:cNvSpPr txBox="1"/>
          <p:nvPr/>
        </p:nvSpPr>
        <p:spPr>
          <a:xfrm>
            <a:off x="106326" y="5061098"/>
            <a:ext cx="5809564" cy="369332"/>
          </a:xfrm>
          <a:prstGeom prst="rect">
            <a:avLst/>
          </a:prstGeom>
          <a:noFill/>
        </p:spPr>
        <p:txBody>
          <a:bodyPr wrap="square" rtlCol="0">
            <a:spAutoFit/>
          </a:bodyPr>
          <a:lstStyle/>
          <a:p>
            <a:pPr algn="ctr"/>
            <a:r>
              <a:rPr lang="tr-TR" dirty="0">
                <a:latin typeface="Bahnschrift SemiBold" panose="020B0502040204020203" pitchFamily="34" charset="0"/>
              </a:rPr>
              <a:t>Wireshark Uygulamasının Arayüzü</a:t>
            </a:r>
          </a:p>
        </p:txBody>
      </p:sp>
      <p:sp>
        <p:nvSpPr>
          <p:cNvPr id="10" name="Metin kutusu 9">
            <a:extLst>
              <a:ext uri="{FF2B5EF4-FFF2-40B4-BE49-F238E27FC236}">
                <a16:creationId xmlns:a16="http://schemas.microsoft.com/office/drawing/2014/main" id="{2294ADA9-A283-1964-C2E0-D7DC5F39A766}"/>
              </a:ext>
            </a:extLst>
          </p:cNvPr>
          <p:cNvSpPr txBox="1"/>
          <p:nvPr/>
        </p:nvSpPr>
        <p:spPr>
          <a:xfrm>
            <a:off x="6096000" y="5061098"/>
            <a:ext cx="5809564" cy="369332"/>
          </a:xfrm>
          <a:prstGeom prst="rect">
            <a:avLst/>
          </a:prstGeom>
          <a:noFill/>
        </p:spPr>
        <p:txBody>
          <a:bodyPr wrap="square" rtlCol="0">
            <a:spAutoFit/>
          </a:bodyPr>
          <a:lstStyle/>
          <a:p>
            <a:pPr algn="ctr"/>
            <a:r>
              <a:rPr lang="tr-TR" dirty="0">
                <a:latin typeface="Bahnschrift SemiBold" panose="020B0502040204020203" pitchFamily="34" charset="0"/>
              </a:rPr>
              <a:t>Kali Linux Uygulamasının Arayüzü</a:t>
            </a:r>
          </a:p>
        </p:txBody>
      </p:sp>
    </p:spTree>
    <p:extLst>
      <p:ext uri="{BB962C8B-B14F-4D97-AF65-F5344CB8AC3E}">
        <p14:creationId xmlns:p14="http://schemas.microsoft.com/office/powerpoint/2010/main" val="3078411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6F88FCC-4B68-28F3-B647-4793D8A05658}"/>
              </a:ext>
            </a:extLst>
          </p:cNvPr>
          <p:cNvSpPr>
            <a:spLocks noGrp="1"/>
          </p:cNvSpPr>
          <p:nvPr>
            <p:ph type="title"/>
          </p:nvPr>
        </p:nvSpPr>
        <p:spPr>
          <a:xfrm>
            <a:off x="752475" y="609600"/>
            <a:ext cx="3643150" cy="5603310"/>
          </a:xfrm>
        </p:spPr>
        <p:txBody>
          <a:bodyPr>
            <a:normAutofit/>
          </a:bodyPr>
          <a:lstStyle/>
          <a:p>
            <a:r>
              <a:rPr lang="tr-TR" dirty="0">
                <a:latin typeface="Bahnschrift SemiBold" panose="020B0502040204020203" pitchFamily="34" charset="0"/>
              </a:rPr>
              <a:t>Veri İşleme</a:t>
            </a:r>
          </a:p>
        </p:txBody>
      </p:sp>
      <p:graphicFrame>
        <p:nvGraphicFramePr>
          <p:cNvPr id="5" name="İçerik Yer Tutucusu 2">
            <a:extLst>
              <a:ext uri="{FF2B5EF4-FFF2-40B4-BE49-F238E27FC236}">
                <a16:creationId xmlns:a16="http://schemas.microsoft.com/office/drawing/2014/main" id="{DD604206-9DA0-748B-F9CE-EA947CA29BF3}"/>
              </a:ext>
            </a:extLst>
          </p:cNvPr>
          <p:cNvGraphicFramePr>
            <a:graphicFrameLocks noGrp="1"/>
          </p:cNvGraphicFramePr>
          <p:nvPr>
            <p:ph idx="1"/>
            <p:extLst>
              <p:ext uri="{D42A27DB-BD31-4B8C-83A1-F6EECF244321}">
                <p14:modId xmlns:p14="http://schemas.microsoft.com/office/powerpoint/2010/main" val="925269796"/>
              </p:ext>
            </p:extLst>
          </p:nvPr>
        </p:nvGraphicFramePr>
        <p:xfrm>
          <a:off x="5127625" y="1114425"/>
          <a:ext cx="5924550" cy="4629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7198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27A215C-0CBC-E715-49DC-6554920E0004}"/>
              </a:ext>
            </a:extLst>
          </p:cNvPr>
          <p:cNvSpPr>
            <a:spLocks noGrp="1"/>
          </p:cNvSpPr>
          <p:nvPr>
            <p:ph type="title"/>
          </p:nvPr>
        </p:nvSpPr>
        <p:spPr/>
        <p:txBody>
          <a:bodyPr/>
          <a:lstStyle/>
          <a:p>
            <a:r>
              <a:rPr lang="tr-TR" dirty="0">
                <a:latin typeface="Bahnschrift SemiBold" panose="020B0502040204020203" pitchFamily="34" charset="0"/>
              </a:rPr>
              <a:t>Veri işleme filtre ÖRNEKLERİ</a:t>
            </a:r>
          </a:p>
        </p:txBody>
      </p:sp>
      <p:sp>
        <p:nvSpPr>
          <p:cNvPr id="3" name="Metin Yer Tutucusu 2">
            <a:extLst>
              <a:ext uri="{FF2B5EF4-FFF2-40B4-BE49-F238E27FC236}">
                <a16:creationId xmlns:a16="http://schemas.microsoft.com/office/drawing/2014/main" id="{D62C1319-10D0-9F35-42FF-93C085D794E8}"/>
              </a:ext>
            </a:extLst>
          </p:cNvPr>
          <p:cNvSpPr>
            <a:spLocks noGrp="1"/>
          </p:cNvSpPr>
          <p:nvPr>
            <p:ph type="body" idx="1"/>
          </p:nvPr>
        </p:nvSpPr>
        <p:spPr/>
        <p:txBody>
          <a:bodyPr/>
          <a:lstStyle/>
          <a:p>
            <a:r>
              <a:rPr lang="tr-TR" dirty="0">
                <a:latin typeface="Bahnschrift SemiBold" panose="020B0502040204020203" pitchFamily="34" charset="0"/>
              </a:rPr>
              <a:t>HTTP </a:t>
            </a:r>
            <a:r>
              <a:rPr lang="tr-TR" dirty="0" err="1">
                <a:latin typeface="Bahnschrift SemiBold" panose="020B0502040204020203" pitchFamily="34" charset="0"/>
              </a:rPr>
              <a:t>Request</a:t>
            </a:r>
            <a:r>
              <a:rPr lang="tr-TR" dirty="0">
                <a:latin typeface="Bahnschrift SemiBold" panose="020B0502040204020203" pitchFamily="34" charset="0"/>
              </a:rPr>
              <a:t> </a:t>
            </a:r>
            <a:r>
              <a:rPr lang="tr-TR" dirty="0" err="1">
                <a:latin typeface="Bahnschrift SemiBold" panose="020B0502040204020203" pitchFamily="34" charset="0"/>
              </a:rPr>
              <a:t>Burst</a:t>
            </a:r>
            <a:endParaRPr lang="tr-TR" dirty="0">
              <a:latin typeface="Bahnschrift SemiBold" panose="020B0502040204020203" pitchFamily="34" charset="0"/>
            </a:endParaRPr>
          </a:p>
        </p:txBody>
      </p:sp>
      <p:sp>
        <p:nvSpPr>
          <p:cNvPr id="4" name="Metin Yer Tutucusu 3">
            <a:extLst>
              <a:ext uri="{FF2B5EF4-FFF2-40B4-BE49-F238E27FC236}">
                <a16:creationId xmlns:a16="http://schemas.microsoft.com/office/drawing/2014/main" id="{94814001-C25A-0995-407E-880586764676}"/>
              </a:ext>
            </a:extLst>
          </p:cNvPr>
          <p:cNvSpPr>
            <a:spLocks noGrp="1"/>
          </p:cNvSpPr>
          <p:nvPr>
            <p:ph type="body" sz="half" idx="15"/>
          </p:nvPr>
        </p:nvSpPr>
        <p:spPr/>
        <p:txBody>
          <a:bodyPr>
            <a:normAutofit/>
          </a:bodyPr>
          <a:lstStyle/>
          <a:p>
            <a:endParaRPr lang="tr-TR" sz="1800" dirty="0"/>
          </a:p>
          <a:p>
            <a:r>
              <a:rPr lang="tr-TR" sz="1800" dirty="0" err="1"/>
              <a:t>ip.src</a:t>
            </a:r>
            <a:r>
              <a:rPr lang="tr-TR" sz="1800" dirty="0"/>
              <a:t> == 192.168.56.101 &amp;&amp; </a:t>
            </a:r>
            <a:r>
              <a:rPr lang="tr-TR" sz="1800" dirty="0" err="1"/>
              <a:t>ip.dst</a:t>
            </a:r>
            <a:r>
              <a:rPr lang="tr-TR" sz="1800" dirty="0"/>
              <a:t> == 192.168.56.1) &amp;&amp; (</a:t>
            </a:r>
            <a:r>
              <a:rPr lang="tr-TR" sz="1800" dirty="0" err="1"/>
              <a:t>http.request</a:t>
            </a:r>
            <a:r>
              <a:rPr lang="tr-TR" sz="1800" dirty="0"/>
              <a:t> || </a:t>
            </a:r>
            <a:r>
              <a:rPr lang="tr-TR" sz="1800" dirty="0" err="1"/>
              <a:t>tcp.flags.reset</a:t>
            </a:r>
            <a:r>
              <a:rPr lang="tr-TR" sz="1800" dirty="0"/>
              <a:t> == 1 || </a:t>
            </a:r>
            <a:r>
              <a:rPr lang="tr-TR" sz="1800" dirty="0" err="1"/>
              <a:t>tcp.flags.syn</a:t>
            </a:r>
            <a:r>
              <a:rPr lang="tr-TR" sz="1800" dirty="0"/>
              <a:t> == 1</a:t>
            </a:r>
          </a:p>
        </p:txBody>
      </p:sp>
      <p:sp>
        <p:nvSpPr>
          <p:cNvPr id="5" name="Metin Yer Tutucusu 4">
            <a:extLst>
              <a:ext uri="{FF2B5EF4-FFF2-40B4-BE49-F238E27FC236}">
                <a16:creationId xmlns:a16="http://schemas.microsoft.com/office/drawing/2014/main" id="{310AF448-2C8C-F1A8-6B93-D226A42C2068}"/>
              </a:ext>
            </a:extLst>
          </p:cNvPr>
          <p:cNvSpPr>
            <a:spLocks noGrp="1"/>
          </p:cNvSpPr>
          <p:nvPr>
            <p:ph type="body" sz="quarter" idx="3"/>
          </p:nvPr>
        </p:nvSpPr>
        <p:spPr/>
        <p:txBody>
          <a:bodyPr/>
          <a:lstStyle/>
          <a:p>
            <a:r>
              <a:rPr lang="tr-TR" dirty="0">
                <a:latin typeface="Bahnschrift SemiBold" panose="020B0502040204020203" pitchFamily="34" charset="0"/>
              </a:rPr>
              <a:t>SYN </a:t>
            </a:r>
            <a:r>
              <a:rPr lang="tr-TR" dirty="0" err="1">
                <a:latin typeface="Bahnschrift SemiBold" panose="020B0502040204020203" pitchFamily="34" charset="0"/>
              </a:rPr>
              <a:t>Flood</a:t>
            </a:r>
            <a:endParaRPr lang="tr-TR" dirty="0">
              <a:latin typeface="Bahnschrift SemiBold" panose="020B0502040204020203" pitchFamily="34" charset="0"/>
            </a:endParaRPr>
          </a:p>
        </p:txBody>
      </p:sp>
      <p:sp>
        <p:nvSpPr>
          <p:cNvPr id="6" name="Metin Yer Tutucusu 5">
            <a:extLst>
              <a:ext uri="{FF2B5EF4-FFF2-40B4-BE49-F238E27FC236}">
                <a16:creationId xmlns:a16="http://schemas.microsoft.com/office/drawing/2014/main" id="{E124A6B7-4CB7-6E3A-366F-5E02EC9C28A4}"/>
              </a:ext>
            </a:extLst>
          </p:cNvPr>
          <p:cNvSpPr>
            <a:spLocks noGrp="1"/>
          </p:cNvSpPr>
          <p:nvPr>
            <p:ph type="body" sz="half" idx="16"/>
          </p:nvPr>
        </p:nvSpPr>
        <p:spPr/>
        <p:txBody>
          <a:bodyPr>
            <a:normAutofit/>
          </a:bodyPr>
          <a:lstStyle/>
          <a:p>
            <a:endParaRPr lang="tr-TR" sz="1800" dirty="0"/>
          </a:p>
          <a:p>
            <a:r>
              <a:rPr lang="tr-TR" sz="1800" dirty="0" err="1"/>
              <a:t>ip.src</a:t>
            </a:r>
            <a:r>
              <a:rPr lang="tr-TR" sz="1800" dirty="0"/>
              <a:t> == 192.168.56.101 &amp;&amp; </a:t>
            </a:r>
            <a:r>
              <a:rPr lang="tr-TR" sz="1800" dirty="0" err="1"/>
              <a:t>ip.dst</a:t>
            </a:r>
            <a:r>
              <a:rPr lang="tr-TR" sz="1800" dirty="0"/>
              <a:t> == 192.168.56.1 &amp;&amp; </a:t>
            </a:r>
            <a:r>
              <a:rPr lang="tr-TR" sz="1800" dirty="0" err="1"/>
              <a:t>tcp.flags.syn</a:t>
            </a:r>
            <a:r>
              <a:rPr lang="tr-TR" sz="1800" dirty="0"/>
              <a:t> == 1 &amp;&amp; </a:t>
            </a:r>
            <a:r>
              <a:rPr lang="tr-TR" sz="1800" dirty="0" err="1"/>
              <a:t>tcp.flags.ack</a:t>
            </a:r>
            <a:r>
              <a:rPr lang="tr-TR" sz="1800" dirty="0"/>
              <a:t> == 0</a:t>
            </a:r>
          </a:p>
        </p:txBody>
      </p:sp>
      <p:sp>
        <p:nvSpPr>
          <p:cNvPr id="7" name="Metin Yer Tutucusu 6">
            <a:extLst>
              <a:ext uri="{FF2B5EF4-FFF2-40B4-BE49-F238E27FC236}">
                <a16:creationId xmlns:a16="http://schemas.microsoft.com/office/drawing/2014/main" id="{3C34F238-1C66-AAA1-CCBB-0BA93F8CB006}"/>
              </a:ext>
            </a:extLst>
          </p:cNvPr>
          <p:cNvSpPr>
            <a:spLocks noGrp="1"/>
          </p:cNvSpPr>
          <p:nvPr>
            <p:ph type="body" sz="quarter" idx="13"/>
          </p:nvPr>
        </p:nvSpPr>
        <p:spPr/>
        <p:txBody>
          <a:bodyPr/>
          <a:lstStyle/>
          <a:p>
            <a:r>
              <a:rPr lang="tr-TR" dirty="0">
                <a:latin typeface="Bahnschrift SemiBold" panose="020B0502040204020203" pitchFamily="34" charset="0"/>
              </a:rPr>
              <a:t>ACK </a:t>
            </a:r>
            <a:r>
              <a:rPr lang="tr-TR" dirty="0" err="1">
                <a:latin typeface="Bahnschrift SemiBold" panose="020B0502040204020203" pitchFamily="34" charset="0"/>
              </a:rPr>
              <a:t>flood</a:t>
            </a:r>
            <a:endParaRPr lang="tr-TR" dirty="0">
              <a:latin typeface="Bahnschrift SemiBold" panose="020B0502040204020203" pitchFamily="34" charset="0"/>
            </a:endParaRPr>
          </a:p>
        </p:txBody>
      </p:sp>
      <p:sp>
        <p:nvSpPr>
          <p:cNvPr id="8" name="Metin Yer Tutucusu 7">
            <a:extLst>
              <a:ext uri="{FF2B5EF4-FFF2-40B4-BE49-F238E27FC236}">
                <a16:creationId xmlns:a16="http://schemas.microsoft.com/office/drawing/2014/main" id="{434B9D55-3266-D10C-319A-0B33F8412EE9}"/>
              </a:ext>
            </a:extLst>
          </p:cNvPr>
          <p:cNvSpPr>
            <a:spLocks noGrp="1"/>
          </p:cNvSpPr>
          <p:nvPr>
            <p:ph type="body" sz="half" idx="17"/>
          </p:nvPr>
        </p:nvSpPr>
        <p:spPr/>
        <p:txBody>
          <a:bodyPr/>
          <a:lstStyle/>
          <a:p>
            <a:endParaRPr lang="tr-TR" sz="1800" dirty="0"/>
          </a:p>
          <a:p>
            <a:r>
              <a:rPr lang="tr-TR" sz="1800" dirty="0" err="1"/>
              <a:t>ip.src</a:t>
            </a:r>
            <a:r>
              <a:rPr lang="tr-TR" sz="1800" dirty="0"/>
              <a:t> == 192.168.56.101 &amp;&amp; </a:t>
            </a:r>
            <a:r>
              <a:rPr lang="tr-TR" sz="1800" dirty="0" err="1"/>
              <a:t>tcp.flags</a:t>
            </a:r>
            <a:r>
              <a:rPr lang="tr-TR" sz="1800" dirty="0"/>
              <a:t> == 0x10</a:t>
            </a:r>
          </a:p>
          <a:p>
            <a:endParaRPr lang="tr-TR" dirty="0"/>
          </a:p>
        </p:txBody>
      </p:sp>
    </p:spTree>
    <p:extLst>
      <p:ext uri="{BB962C8B-B14F-4D97-AF65-F5344CB8AC3E}">
        <p14:creationId xmlns:p14="http://schemas.microsoft.com/office/powerpoint/2010/main" val="3191805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B2E5535-D438-B06F-91CD-8AEB62573224}"/>
              </a:ext>
            </a:extLst>
          </p:cNvPr>
          <p:cNvSpPr>
            <a:spLocks noGrp="1"/>
          </p:cNvSpPr>
          <p:nvPr>
            <p:ph type="title"/>
          </p:nvPr>
        </p:nvSpPr>
        <p:spPr>
          <a:xfrm>
            <a:off x="913795" y="609600"/>
            <a:ext cx="10353761" cy="1326321"/>
          </a:xfrm>
        </p:spPr>
        <p:txBody>
          <a:bodyPr>
            <a:normAutofit/>
          </a:bodyPr>
          <a:lstStyle/>
          <a:p>
            <a:r>
              <a:rPr lang="tr-TR" dirty="0">
                <a:latin typeface="Bahnschrift SemiBold" panose="020B0502040204020203" pitchFamily="34" charset="0"/>
              </a:rPr>
              <a:t>VERİ SETİ OLUŞTURMA</a:t>
            </a:r>
          </a:p>
        </p:txBody>
      </p:sp>
      <p:sp>
        <p:nvSpPr>
          <p:cNvPr id="3" name="İçerik Yer Tutucusu 2">
            <a:extLst>
              <a:ext uri="{FF2B5EF4-FFF2-40B4-BE49-F238E27FC236}">
                <a16:creationId xmlns:a16="http://schemas.microsoft.com/office/drawing/2014/main" id="{A665C984-DE5F-0194-4044-F0C9C1FB2820}"/>
              </a:ext>
            </a:extLst>
          </p:cNvPr>
          <p:cNvSpPr>
            <a:spLocks noGrp="1"/>
          </p:cNvSpPr>
          <p:nvPr>
            <p:ph idx="1"/>
          </p:nvPr>
        </p:nvSpPr>
        <p:spPr>
          <a:xfrm>
            <a:off x="913795" y="2096064"/>
            <a:ext cx="6352824" cy="3695136"/>
          </a:xfrm>
        </p:spPr>
        <p:txBody>
          <a:bodyPr>
            <a:normAutofit/>
          </a:bodyPr>
          <a:lstStyle/>
          <a:p>
            <a:r>
              <a:rPr lang="tr-TR" dirty="0">
                <a:effectLst/>
              </a:rPr>
              <a:t>Veri seti, ham PCAP/PCAPNG dosyalarından çıkarılan özelliklerin birleştirilmesiyle oluşturuldu. Öncelikle normal ve anomali trafikleri etiketlenerek ayrıldı; ardından ağ trafiği 1 saniyelik pencerelere bölündü ve her pencere için istatistiksel özellikler hesaplandı. Paket/Byte sayısı 0 olan boş pencereler elendi. Böylece modelleme için tutarlı ve temiz bir özellik matrisi elde edildi.</a:t>
            </a:r>
            <a:endParaRPr lang="tr-TR" dirty="0"/>
          </a:p>
        </p:txBody>
      </p:sp>
      <p:pic>
        <p:nvPicPr>
          <p:cNvPr id="7" name="Graphic 6" descr="Taco">
            <a:extLst>
              <a:ext uri="{FF2B5EF4-FFF2-40B4-BE49-F238E27FC236}">
                <a16:creationId xmlns:a16="http://schemas.microsoft.com/office/drawing/2014/main" id="{74D6023D-9682-8885-FBE6-68727962C8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88035" y="2210935"/>
            <a:ext cx="3493180"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2180813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2031254-76F8-B7F4-8D84-BD801CAB49B3}"/>
              </a:ext>
            </a:extLst>
          </p:cNvPr>
          <p:cNvSpPr>
            <a:spLocks noGrp="1"/>
          </p:cNvSpPr>
          <p:nvPr>
            <p:ph type="title"/>
          </p:nvPr>
        </p:nvSpPr>
        <p:spPr>
          <a:xfrm>
            <a:off x="913795" y="609600"/>
            <a:ext cx="10353761" cy="1326321"/>
          </a:xfrm>
        </p:spPr>
        <p:txBody>
          <a:bodyPr>
            <a:normAutofit/>
          </a:bodyPr>
          <a:lstStyle/>
          <a:p>
            <a:r>
              <a:rPr lang="tr-TR" dirty="0">
                <a:latin typeface="Bahnschrift SemiBold" panose="020B0502040204020203" pitchFamily="34" charset="0"/>
              </a:rPr>
              <a:t>VERİ SETİ OLUŞTURMA</a:t>
            </a:r>
          </a:p>
        </p:txBody>
      </p:sp>
      <p:sp>
        <p:nvSpPr>
          <p:cNvPr id="3" name="İçerik Yer Tutucusu 2">
            <a:extLst>
              <a:ext uri="{FF2B5EF4-FFF2-40B4-BE49-F238E27FC236}">
                <a16:creationId xmlns:a16="http://schemas.microsoft.com/office/drawing/2014/main" id="{6BF6C911-C393-9DF3-0C35-35B98AEE525A}"/>
              </a:ext>
            </a:extLst>
          </p:cNvPr>
          <p:cNvSpPr>
            <a:spLocks noGrp="1"/>
          </p:cNvSpPr>
          <p:nvPr>
            <p:ph idx="1"/>
          </p:nvPr>
        </p:nvSpPr>
        <p:spPr>
          <a:xfrm>
            <a:off x="913795" y="2096064"/>
            <a:ext cx="6352824" cy="3695136"/>
          </a:xfrm>
        </p:spPr>
        <p:txBody>
          <a:bodyPr>
            <a:normAutofit/>
          </a:bodyPr>
          <a:lstStyle/>
          <a:p>
            <a:pPr>
              <a:lnSpc>
                <a:spcPct val="110000"/>
              </a:lnSpc>
            </a:pPr>
            <a:r>
              <a:rPr lang="tr-TR" dirty="0">
                <a:effectLst/>
              </a:rPr>
              <a:t>Hazırlanan veri, veri sızıntısını önlemek amacıyla dosya bazlı olarak </a:t>
            </a:r>
            <a:r>
              <a:rPr lang="tr-TR" dirty="0" err="1">
                <a:effectLst/>
              </a:rPr>
              <a:t>train</a:t>
            </a:r>
            <a:r>
              <a:rPr lang="tr-TR" dirty="0">
                <a:effectLst/>
              </a:rPr>
              <a:t>/</a:t>
            </a:r>
            <a:r>
              <a:rPr lang="tr-TR" dirty="0" err="1">
                <a:effectLst/>
              </a:rPr>
              <a:t>validation</a:t>
            </a:r>
            <a:r>
              <a:rPr lang="tr-TR" dirty="0">
                <a:effectLst/>
              </a:rPr>
              <a:t>/test şeklinde bölündü; aynı </a:t>
            </a:r>
            <a:r>
              <a:rPr lang="tr-TR" dirty="0" err="1">
                <a:effectLst/>
              </a:rPr>
              <a:t>PCAP’ten</a:t>
            </a:r>
            <a:r>
              <a:rPr lang="tr-TR" dirty="0">
                <a:effectLst/>
              </a:rPr>
              <a:t> gelen pencereler farklı setlere dağıtılmadı. Eğitim ve doğrulama setleri yalnızca normal verilerden oluşturulurken anomali veriler test aşamasında kullanıldı. Son olarak özellikler ölçeklendirilerek (normalize/standardize) farklı büyüklükteki metrikler aynı aralığa çekildi ve model eğitimi ile değerlendirme için nihai veri seti hazırlandı.</a:t>
            </a:r>
            <a:endParaRPr lang="tr-TR" dirty="0"/>
          </a:p>
        </p:txBody>
      </p:sp>
      <p:pic>
        <p:nvPicPr>
          <p:cNvPr id="7" name="Graphic 6" descr="Veri tabanı">
            <a:extLst>
              <a:ext uri="{FF2B5EF4-FFF2-40B4-BE49-F238E27FC236}">
                <a16:creationId xmlns:a16="http://schemas.microsoft.com/office/drawing/2014/main" id="{E5CC9B26-AAA6-0149-DB9B-5E79BE9D4E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88035" y="2210935"/>
            <a:ext cx="3493180"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4095979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C746349-A074-53D5-0CB6-C9CC92A6CAB2}"/>
              </a:ext>
            </a:extLst>
          </p:cNvPr>
          <p:cNvSpPr>
            <a:spLocks noGrp="1"/>
          </p:cNvSpPr>
          <p:nvPr>
            <p:ph type="title"/>
          </p:nvPr>
        </p:nvSpPr>
        <p:spPr/>
        <p:txBody>
          <a:bodyPr/>
          <a:lstStyle/>
          <a:p>
            <a:r>
              <a:rPr lang="tr-TR" dirty="0">
                <a:latin typeface="Bahnschrift SemiBold" panose="020B0502040204020203" pitchFamily="34" charset="0"/>
              </a:rPr>
              <a:t>MODEL MİMARİSİ</a:t>
            </a:r>
          </a:p>
        </p:txBody>
      </p:sp>
      <p:sp>
        <p:nvSpPr>
          <p:cNvPr id="3" name="İçerik Yer Tutucusu 2">
            <a:extLst>
              <a:ext uri="{FF2B5EF4-FFF2-40B4-BE49-F238E27FC236}">
                <a16:creationId xmlns:a16="http://schemas.microsoft.com/office/drawing/2014/main" id="{A2C5085B-8A67-EF91-657F-51BF50DD8157}"/>
              </a:ext>
            </a:extLst>
          </p:cNvPr>
          <p:cNvSpPr>
            <a:spLocks noGrp="1"/>
          </p:cNvSpPr>
          <p:nvPr>
            <p:ph idx="1"/>
          </p:nvPr>
        </p:nvSpPr>
        <p:spPr/>
        <p:txBody>
          <a:bodyPr/>
          <a:lstStyle/>
          <a:p>
            <a:r>
              <a:rPr lang="tr-TR" dirty="0">
                <a:effectLst/>
              </a:rPr>
              <a:t>Bu projede mimari olarak </a:t>
            </a:r>
            <a:r>
              <a:rPr lang="tr-TR" dirty="0" err="1">
                <a:effectLst/>
              </a:rPr>
              <a:t>Autoencoder</a:t>
            </a:r>
            <a:r>
              <a:rPr lang="tr-TR" dirty="0">
                <a:effectLst/>
              </a:rPr>
              <a:t> mimarisi tercih edilmiştir. </a:t>
            </a:r>
            <a:r>
              <a:rPr lang="tr-TR" dirty="0" err="1">
                <a:effectLst/>
              </a:rPr>
              <a:t>Autoencoder</a:t>
            </a:r>
            <a:r>
              <a:rPr lang="tr-TR" dirty="0">
                <a:effectLst/>
              </a:rPr>
              <a:t>, normal ağ trafiğinden öğrenerek sapmaları tespit eden bir yeniden yapılandırma modelidir. Giriş katmanı, çıkarılan özellik vektörünü alır ve ardışık gizli katmanlarla boyut kademeli olarak düşürülerek bir darboğaz temsili oluşturulur. </a:t>
            </a:r>
            <a:r>
              <a:rPr lang="tr-TR" dirty="0" err="1">
                <a:effectLst/>
              </a:rPr>
              <a:t>Decoder</a:t>
            </a:r>
            <a:r>
              <a:rPr lang="tr-TR" dirty="0">
                <a:effectLst/>
              </a:rPr>
              <a:t> kısmı bu temsili tekrar giriş boyutuna genişletir ve çıktıyı üretir. Model, giriş–çıkış farkını minimize edecek şekilde eğitilir; böylece normal örneklerde hata düşük, anomali örneklerde yüksek olur.</a:t>
            </a:r>
            <a:endParaRPr lang="tr-TR" dirty="0"/>
          </a:p>
        </p:txBody>
      </p:sp>
    </p:spTree>
    <p:extLst>
      <p:ext uri="{BB962C8B-B14F-4D97-AF65-F5344CB8AC3E}">
        <p14:creationId xmlns:p14="http://schemas.microsoft.com/office/powerpoint/2010/main" val="2086506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7BFFF82F-44C9-B348-3FA3-CBFBDE2126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46438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37EC001-2EF4-FD39-0509-3EA9BB0D168B}"/>
              </a:ext>
            </a:extLst>
          </p:cNvPr>
          <p:cNvSpPr>
            <a:spLocks noGrp="1"/>
          </p:cNvSpPr>
          <p:nvPr>
            <p:ph type="title"/>
          </p:nvPr>
        </p:nvSpPr>
        <p:spPr/>
        <p:txBody>
          <a:bodyPr/>
          <a:lstStyle/>
          <a:p>
            <a:r>
              <a:rPr lang="tr-TR" dirty="0">
                <a:latin typeface="Bahnschrift SemiBold" panose="020B0502040204020203" pitchFamily="34" charset="0"/>
              </a:rPr>
              <a:t>KULLANILAN DİĞER MİMARİLER</a:t>
            </a:r>
          </a:p>
        </p:txBody>
      </p:sp>
      <p:sp>
        <p:nvSpPr>
          <p:cNvPr id="3" name="Metin Yer Tutucusu 2">
            <a:extLst>
              <a:ext uri="{FF2B5EF4-FFF2-40B4-BE49-F238E27FC236}">
                <a16:creationId xmlns:a16="http://schemas.microsoft.com/office/drawing/2014/main" id="{8AE3D268-7ACF-C666-64AD-41DB61AC36FD}"/>
              </a:ext>
            </a:extLst>
          </p:cNvPr>
          <p:cNvSpPr>
            <a:spLocks noGrp="1"/>
          </p:cNvSpPr>
          <p:nvPr>
            <p:ph type="body" idx="1"/>
          </p:nvPr>
        </p:nvSpPr>
        <p:spPr/>
        <p:txBody>
          <a:bodyPr/>
          <a:lstStyle/>
          <a:p>
            <a:r>
              <a:rPr lang="tr-TR" dirty="0" err="1">
                <a:effectLst/>
                <a:latin typeface="Bahnschrift SemiBold" panose="020B0502040204020203" pitchFamily="34" charset="0"/>
              </a:rPr>
              <a:t>Isolation</a:t>
            </a:r>
            <a:r>
              <a:rPr lang="tr-TR" dirty="0">
                <a:effectLst/>
                <a:latin typeface="Bahnschrift SemiBold" panose="020B0502040204020203" pitchFamily="34" charset="0"/>
              </a:rPr>
              <a:t> </a:t>
            </a:r>
            <a:r>
              <a:rPr lang="tr-TR" dirty="0" err="1">
                <a:effectLst/>
                <a:latin typeface="Bahnschrift SemiBold" panose="020B0502040204020203" pitchFamily="34" charset="0"/>
              </a:rPr>
              <a:t>Forest</a:t>
            </a:r>
            <a:endParaRPr lang="tr-TR" dirty="0">
              <a:latin typeface="Bahnschrift SemiBold" panose="020B0502040204020203" pitchFamily="34" charset="0"/>
            </a:endParaRPr>
          </a:p>
        </p:txBody>
      </p:sp>
      <p:sp>
        <p:nvSpPr>
          <p:cNvPr id="4" name="Metin Yer Tutucusu 3">
            <a:extLst>
              <a:ext uri="{FF2B5EF4-FFF2-40B4-BE49-F238E27FC236}">
                <a16:creationId xmlns:a16="http://schemas.microsoft.com/office/drawing/2014/main" id="{1A92BFEE-A2F5-2F73-EC43-A7E9587B244E}"/>
              </a:ext>
            </a:extLst>
          </p:cNvPr>
          <p:cNvSpPr>
            <a:spLocks noGrp="1"/>
          </p:cNvSpPr>
          <p:nvPr>
            <p:ph type="body" sz="half" idx="15"/>
          </p:nvPr>
        </p:nvSpPr>
        <p:spPr/>
        <p:txBody>
          <a:bodyPr>
            <a:normAutofit/>
          </a:bodyPr>
          <a:lstStyle/>
          <a:p>
            <a:endParaRPr lang="tr-TR" sz="1800" dirty="0">
              <a:effectLst/>
            </a:endParaRPr>
          </a:p>
          <a:p>
            <a:r>
              <a:rPr lang="tr-TR" sz="1800" dirty="0">
                <a:effectLst/>
              </a:rPr>
              <a:t>Normal veriyi rastgele ağaçlarla bölerek kolay izole edilen örnekleri anomali olarak işaretler</a:t>
            </a:r>
            <a:endParaRPr lang="tr-TR" sz="1800" dirty="0"/>
          </a:p>
        </p:txBody>
      </p:sp>
      <p:sp>
        <p:nvSpPr>
          <p:cNvPr id="5" name="Metin Yer Tutucusu 4">
            <a:extLst>
              <a:ext uri="{FF2B5EF4-FFF2-40B4-BE49-F238E27FC236}">
                <a16:creationId xmlns:a16="http://schemas.microsoft.com/office/drawing/2014/main" id="{F7DEC451-0687-4BE4-E683-E6B9FE318C48}"/>
              </a:ext>
            </a:extLst>
          </p:cNvPr>
          <p:cNvSpPr>
            <a:spLocks noGrp="1"/>
          </p:cNvSpPr>
          <p:nvPr>
            <p:ph type="body" sz="quarter" idx="3"/>
          </p:nvPr>
        </p:nvSpPr>
        <p:spPr/>
        <p:txBody>
          <a:bodyPr/>
          <a:lstStyle/>
          <a:p>
            <a:r>
              <a:rPr lang="tr-TR" dirty="0" err="1">
                <a:effectLst/>
                <a:latin typeface="Bahnschrift SemiBold" panose="020B0502040204020203" pitchFamily="34" charset="0"/>
              </a:rPr>
              <a:t>One</a:t>
            </a:r>
            <a:r>
              <a:rPr lang="tr-TR" dirty="0">
                <a:effectLst/>
                <a:latin typeface="Bahnschrift SemiBold" panose="020B0502040204020203" pitchFamily="34" charset="0"/>
              </a:rPr>
              <a:t>‑Class SVM</a:t>
            </a:r>
            <a:endParaRPr lang="tr-TR" dirty="0">
              <a:latin typeface="Bahnschrift SemiBold" panose="020B0502040204020203" pitchFamily="34" charset="0"/>
            </a:endParaRPr>
          </a:p>
        </p:txBody>
      </p:sp>
      <p:sp>
        <p:nvSpPr>
          <p:cNvPr id="6" name="Metin Yer Tutucusu 5">
            <a:extLst>
              <a:ext uri="{FF2B5EF4-FFF2-40B4-BE49-F238E27FC236}">
                <a16:creationId xmlns:a16="http://schemas.microsoft.com/office/drawing/2014/main" id="{CB60EFF8-0EA8-E595-E165-84C11474DC88}"/>
              </a:ext>
            </a:extLst>
          </p:cNvPr>
          <p:cNvSpPr>
            <a:spLocks noGrp="1"/>
          </p:cNvSpPr>
          <p:nvPr>
            <p:ph type="body" sz="half" idx="16"/>
          </p:nvPr>
        </p:nvSpPr>
        <p:spPr/>
        <p:txBody>
          <a:bodyPr/>
          <a:lstStyle/>
          <a:p>
            <a:endParaRPr lang="tr-TR" dirty="0">
              <a:effectLst/>
            </a:endParaRPr>
          </a:p>
          <a:p>
            <a:r>
              <a:rPr lang="tr-TR" sz="1800" dirty="0">
                <a:effectLst/>
              </a:rPr>
              <a:t>Yalnızca normal veriden bir karar sınırı öğrenir ve bu sınırın dışına düşen örnekleri anomali kabul eder</a:t>
            </a:r>
            <a:endParaRPr lang="tr-TR" sz="1800" dirty="0"/>
          </a:p>
        </p:txBody>
      </p:sp>
      <p:sp>
        <p:nvSpPr>
          <p:cNvPr id="7" name="Metin Yer Tutucusu 6">
            <a:extLst>
              <a:ext uri="{FF2B5EF4-FFF2-40B4-BE49-F238E27FC236}">
                <a16:creationId xmlns:a16="http://schemas.microsoft.com/office/drawing/2014/main" id="{16134264-5244-7FBD-C5FD-F8A8E2496B1A}"/>
              </a:ext>
            </a:extLst>
          </p:cNvPr>
          <p:cNvSpPr>
            <a:spLocks noGrp="1"/>
          </p:cNvSpPr>
          <p:nvPr>
            <p:ph type="body" sz="quarter" idx="13"/>
          </p:nvPr>
        </p:nvSpPr>
        <p:spPr/>
        <p:txBody>
          <a:bodyPr/>
          <a:lstStyle/>
          <a:p>
            <a:r>
              <a:rPr lang="tr-TR" dirty="0">
                <a:effectLst/>
                <a:latin typeface="Bahnschrift SemiBold" panose="020B0502040204020203" pitchFamily="34" charset="0"/>
              </a:rPr>
              <a:t>PCA </a:t>
            </a:r>
            <a:r>
              <a:rPr lang="tr-TR" dirty="0" err="1">
                <a:effectLst/>
                <a:latin typeface="Bahnschrift SemiBold" panose="020B0502040204020203" pitchFamily="34" charset="0"/>
              </a:rPr>
              <a:t>Reconstruction</a:t>
            </a:r>
            <a:endParaRPr lang="tr-TR" dirty="0">
              <a:latin typeface="Bahnschrift SemiBold" panose="020B0502040204020203" pitchFamily="34" charset="0"/>
            </a:endParaRPr>
          </a:p>
        </p:txBody>
      </p:sp>
      <p:sp>
        <p:nvSpPr>
          <p:cNvPr id="8" name="Metin Yer Tutucusu 7">
            <a:extLst>
              <a:ext uri="{FF2B5EF4-FFF2-40B4-BE49-F238E27FC236}">
                <a16:creationId xmlns:a16="http://schemas.microsoft.com/office/drawing/2014/main" id="{8533F4E0-56F1-44E7-19EF-4B88AD4DDD92}"/>
              </a:ext>
            </a:extLst>
          </p:cNvPr>
          <p:cNvSpPr>
            <a:spLocks noGrp="1"/>
          </p:cNvSpPr>
          <p:nvPr>
            <p:ph type="body" sz="half" idx="17"/>
          </p:nvPr>
        </p:nvSpPr>
        <p:spPr/>
        <p:txBody>
          <a:bodyPr>
            <a:normAutofit/>
          </a:bodyPr>
          <a:lstStyle/>
          <a:p>
            <a:r>
              <a:rPr lang="tr-TR" sz="1800" dirty="0">
                <a:effectLst/>
              </a:rPr>
              <a:t> </a:t>
            </a:r>
          </a:p>
          <a:p>
            <a:r>
              <a:rPr lang="tr-TR" sz="1800" dirty="0">
                <a:effectLst/>
              </a:rPr>
              <a:t>Veriyi düşük boyutlu bileşenlerle temsil edip yeniden yapılandırır; yeniden yapılandırma hatası yüksekse anomali olarak değerlendirilir.</a:t>
            </a:r>
            <a:endParaRPr lang="tr-TR" sz="1800" dirty="0"/>
          </a:p>
        </p:txBody>
      </p:sp>
    </p:spTree>
    <p:extLst>
      <p:ext uri="{BB962C8B-B14F-4D97-AF65-F5344CB8AC3E}">
        <p14:creationId xmlns:p14="http://schemas.microsoft.com/office/powerpoint/2010/main" val="2016992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D16FCE-BE24-E641-FB6A-10D5471C22E9}"/>
              </a:ext>
            </a:extLst>
          </p:cNvPr>
          <p:cNvSpPr>
            <a:spLocks noGrp="1"/>
          </p:cNvSpPr>
          <p:nvPr>
            <p:ph type="title"/>
          </p:nvPr>
        </p:nvSpPr>
        <p:spPr>
          <a:xfrm>
            <a:off x="913795" y="609600"/>
            <a:ext cx="10353761" cy="1326321"/>
          </a:xfrm>
        </p:spPr>
        <p:txBody>
          <a:bodyPr>
            <a:normAutofit/>
          </a:bodyPr>
          <a:lstStyle/>
          <a:p>
            <a:r>
              <a:rPr lang="tr-TR" dirty="0">
                <a:latin typeface="Bahnschrift SemiBold" panose="020B0502040204020203" pitchFamily="34" charset="0"/>
              </a:rPr>
              <a:t>EĞİTİM SÜRECİ</a:t>
            </a:r>
          </a:p>
        </p:txBody>
      </p:sp>
      <p:sp>
        <p:nvSpPr>
          <p:cNvPr id="3" name="İçerik Yer Tutucusu 2">
            <a:extLst>
              <a:ext uri="{FF2B5EF4-FFF2-40B4-BE49-F238E27FC236}">
                <a16:creationId xmlns:a16="http://schemas.microsoft.com/office/drawing/2014/main" id="{3AAB5611-1665-E723-0918-E9B103BF0B5E}"/>
              </a:ext>
            </a:extLst>
          </p:cNvPr>
          <p:cNvSpPr>
            <a:spLocks noGrp="1"/>
          </p:cNvSpPr>
          <p:nvPr>
            <p:ph idx="1"/>
          </p:nvPr>
        </p:nvSpPr>
        <p:spPr>
          <a:xfrm>
            <a:off x="913795" y="2096064"/>
            <a:ext cx="6352824" cy="3695136"/>
          </a:xfrm>
        </p:spPr>
        <p:txBody>
          <a:bodyPr>
            <a:normAutofit/>
          </a:bodyPr>
          <a:lstStyle/>
          <a:p>
            <a:pPr>
              <a:lnSpc>
                <a:spcPct val="110000"/>
              </a:lnSpc>
            </a:pPr>
            <a:r>
              <a:rPr lang="tr-TR" sz="1700">
                <a:effectLst/>
              </a:rPr>
              <a:t>Eğitim süreci, önce ham veriden çıkarılan özelliklerin temizlenmesi ve ölçeklenmesiyle başlar. Normal ve anomali veriler etiketlerine göre ayrılır; eğitim ve doğrulama setleri yalnızca normal örneklerden oluşturulur, anomali veriler test aşamasına bırakılır. Özellikler, modelin daha stabil öğrenmesi için ölçeklendirilir (</a:t>
            </a:r>
            <a:r>
              <a:rPr lang="tr-TR" sz="1700" err="1">
                <a:effectLst/>
              </a:rPr>
              <a:t>örn</a:t>
            </a:r>
            <a:r>
              <a:rPr lang="tr-TR" sz="1700">
                <a:effectLst/>
              </a:rPr>
              <a:t>. </a:t>
            </a:r>
            <a:r>
              <a:rPr lang="tr-TR" sz="1700" err="1">
                <a:effectLst/>
              </a:rPr>
              <a:t>Min‑Max</a:t>
            </a:r>
            <a:r>
              <a:rPr lang="tr-TR" sz="1700">
                <a:effectLst/>
              </a:rPr>
              <a:t>, Standard veya </a:t>
            </a:r>
            <a:r>
              <a:rPr lang="tr-TR" sz="1700" err="1">
                <a:effectLst/>
              </a:rPr>
              <a:t>Robust</a:t>
            </a:r>
            <a:r>
              <a:rPr lang="tr-TR" sz="1700">
                <a:effectLst/>
              </a:rPr>
              <a:t>). </a:t>
            </a:r>
            <a:r>
              <a:rPr lang="tr-TR" sz="1700" err="1">
                <a:effectLst/>
              </a:rPr>
              <a:t>Autoencoder</a:t>
            </a:r>
            <a:r>
              <a:rPr lang="tr-TR" sz="1700">
                <a:effectLst/>
              </a:rPr>
              <a:t> eğitiminde giriş ve çıkış aynı olacak şekilde model, normal veriyi yeniden yapılandırmayı öğrenir; kayıp fonksiyonu olarak yeniden yapılandırma hatası (MSE) minimize edilir. Eğitim boyunca erken durdurma ve öğrenme oranı düşürme gibi teknikler kullanılarak aşırı öğrenme önlenir</a:t>
            </a:r>
            <a:endParaRPr lang="tr-TR" sz="1700"/>
          </a:p>
        </p:txBody>
      </p:sp>
      <p:pic>
        <p:nvPicPr>
          <p:cNvPr id="7" name="Graphic 6" descr="Books on Shelf">
            <a:extLst>
              <a:ext uri="{FF2B5EF4-FFF2-40B4-BE49-F238E27FC236}">
                <a16:creationId xmlns:a16="http://schemas.microsoft.com/office/drawing/2014/main" id="{49F91E2E-DB16-2B3F-0A08-55773F45F3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88035" y="2210935"/>
            <a:ext cx="3493180"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1764503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5BFC5F-6F6D-0A87-EDA5-D5644DC0DBF6}"/>
              </a:ext>
            </a:extLst>
          </p:cNvPr>
          <p:cNvSpPr>
            <a:spLocks noGrp="1"/>
          </p:cNvSpPr>
          <p:nvPr>
            <p:ph type="title"/>
          </p:nvPr>
        </p:nvSpPr>
        <p:spPr/>
        <p:txBody>
          <a:bodyPr/>
          <a:lstStyle/>
          <a:p>
            <a:r>
              <a:rPr lang="tr-TR" dirty="0">
                <a:latin typeface="Bahnschrift SemiBold" panose="020B0502040204020203" pitchFamily="34" charset="0"/>
              </a:rPr>
              <a:t>Eğitim süreci</a:t>
            </a:r>
          </a:p>
        </p:txBody>
      </p:sp>
      <p:sp>
        <p:nvSpPr>
          <p:cNvPr id="3" name="İçerik Yer Tutucusu 2">
            <a:extLst>
              <a:ext uri="{FF2B5EF4-FFF2-40B4-BE49-F238E27FC236}">
                <a16:creationId xmlns:a16="http://schemas.microsoft.com/office/drawing/2014/main" id="{820FE632-6597-3D03-070F-9B01EB0D5EB7}"/>
              </a:ext>
            </a:extLst>
          </p:cNvPr>
          <p:cNvSpPr>
            <a:spLocks noGrp="1"/>
          </p:cNvSpPr>
          <p:nvPr>
            <p:ph idx="1"/>
          </p:nvPr>
        </p:nvSpPr>
        <p:spPr/>
        <p:txBody>
          <a:bodyPr/>
          <a:lstStyle/>
          <a:p>
            <a:r>
              <a:rPr lang="tr-TR" dirty="0">
                <a:effectLst/>
              </a:rPr>
              <a:t>Klasik modellerde (</a:t>
            </a:r>
            <a:r>
              <a:rPr lang="tr-TR" dirty="0" err="1">
                <a:effectLst/>
              </a:rPr>
              <a:t>Isolation</a:t>
            </a:r>
            <a:r>
              <a:rPr lang="tr-TR" dirty="0">
                <a:effectLst/>
              </a:rPr>
              <a:t> </a:t>
            </a:r>
            <a:r>
              <a:rPr lang="tr-TR" dirty="0" err="1">
                <a:effectLst/>
              </a:rPr>
              <a:t>Forest</a:t>
            </a:r>
            <a:r>
              <a:rPr lang="tr-TR" dirty="0">
                <a:effectLst/>
              </a:rPr>
              <a:t>, </a:t>
            </a:r>
            <a:r>
              <a:rPr lang="tr-TR" dirty="0" err="1">
                <a:effectLst/>
              </a:rPr>
              <a:t>One</a:t>
            </a:r>
            <a:r>
              <a:rPr lang="tr-TR" dirty="0">
                <a:effectLst/>
              </a:rPr>
              <a:t>‑Class SVM, PCA) yine yalnızca normal verilerle eğitim yapılır. Doğrulama verisi, bu modeller için uygun eşik değerini belirlemek amacıyla kullanılır; örneğin </a:t>
            </a:r>
            <a:r>
              <a:rPr lang="tr-TR" dirty="0" err="1">
                <a:effectLst/>
              </a:rPr>
              <a:t>Isolation</a:t>
            </a:r>
            <a:r>
              <a:rPr lang="tr-TR" dirty="0">
                <a:effectLst/>
              </a:rPr>
              <a:t> </a:t>
            </a:r>
            <a:r>
              <a:rPr lang="tr-TR" dirty="0" err="1">
                <a:effectLst/>
              </a:rPr>
              <a:t>Forest</a:t>
            </a:r>
            <a:r>
              <a:rPr lang="tr-TR" dirty="0">
                <a:effectLst/>
              </a:rPr>
              <a:t> ve OC‑</a:t>
            </a:r>
            <a:r>
              <a:rPr lang="tr-TR" dirty="0" err="1">
                <a:effectLst/>
              </a:rPr>
              <a:t>SVM’de</a:t>
            </a:r>
            <a:r>
              <a:rPr lang="tr-TR" dirty="0">
                <a:effectLst/>
              </a:rPr>
              <a:t> karar skoru, </a:t>
            </a:r>
            <a:r>
              <a:rPr lang="tr-TR" dirty="0" err="1">
                <a:effectLst/>
              </a:rPr>
              <a:t>PCA’da</a:t>
            </a:r>
            <a:r>
              <a:rPr lang="tr-TR" dirty="0">
                <a:effectLst/>
              </a:rPr>
              <a:t> yeniden yapılandırma hatası üzerinden eşik hesaplanır. Eğitim sonunda tüm modeller kaydedilir ve test aşamasında normal + anomali veriler üzerinde performans karşılaştırması yapılır. Böylece eğitim süreci, normal davranışı öğrenip sapmaları hataya dayalı olarak tespit eden bir yapı oluşturur.</a:t>
            </a:r>
            <a:endParaRPr lang="tr-TR" dirty="0"/>
          </a:p>
        </p:txBody>
      </p:sp>
    </p:spTree>
    <p:extLst>
      <p:ext uri="{BB962C8B-B14F-4D97-AF65-F5344CB8AC3E}">
        <p14:creationId xmlns:p14="http://schemas.microsoft.com/office/powerpoint/2010/main" val="3418662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5696E4F-4528-F5B8-18FE-C56EECEAFEA6}"/>
              </a:ext>
            </a:extLst>
          </p:cNvPr>
          <p:cNvSpPr>
            <a:spLocks noGrp="1"/>
          </p:cNvSpPr>
          <p:nvPr>
            <p:ph type="title"/>
          </p:nvPr>
        </p:nvSpPr>
        <p:spPr>
          <a:xfrm>
            <a:off x="752475" y="609600"/>
            <a:ext cx="3643150" cy="5603310"/>
          </a:xfrm>
        </p:spPr>
        <p:txBody>
          <a:bodyPr>
            <a:normAutofit/>
          </a:bodyPr>
          <a:lstStyle/>
          <a:p>
            <a:r>
              <a:rPr lang="tr-TR" sz="3100" dirty="0" err="1">
                <a:latin typeface="Bahnschrift SemiBold" panose="020B0502040204020203" pitchFamily="34" charset="0"/>
              </a:rPr>
              <a:t>Hiperparametre</a:t>
            </a:r>
            <a:r>
              <a:rPr lang="tr-TR" sz="3100" dirty="0">
                <a:latin typeface="Bahnschrift SemiBold" panose="020B0502040204020203" pitchFamily="34" charset="0"/>
              </a:rPr>
              <a:t> optimizasyonu</a:t>
            </a:r>
          </a:p>
        </p:txBody>
      </p:sp>
      <p:graphicFrame>
        <p:nvGraphicFramePr>
          <p:cNvPr id="7" name="İçerik Yer Tutucusu 2">
            <a:extLst>
              <a:ext uri="{FF2B5EF4-FFF2-40B4-BE49-F238E27FC236}">
                <a16:creationId xmlns:a16="http://schemas.microsoft.com/office/drawing/2014/main" id="{457FE0ED-4F40-CBA5-1ED2-8EA7B7CA653B}"/>
              </a:ext>
            </a:extLst>
          </p:cNvPr>
          <p:cNvGraphicFramePr>
            <a:graphicFrameLocks noGrp="1"/>
          </p:cNvGraphicFramePr>
          <p:nvPr>
            <p:ph idx="1"/>
            <p:extLst>
              <p:ext uri="{D42A27DB-BD31-4B8C-83A1-F6EECF244321}">
                <p14:modId xmlns:p14="http://schemas.microsoft.com/office/powerpoint/2010/main" val="1003104762"/>
              </p:ext>
            </p:extLst>
          </p:nvPr>
        </p:nvGraphicFramePr>
        <p:xfrm>
          <a:off x="5127625" y="1114425"/>
          <a:ext cx="5924550" cy="4629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1825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71FF09F-AA66-56B3-B338-620ECFE1040E}"/>
              </a:ext>
            </a:extLst>
          </p:cNvPr>
          <p:cNvSpPr>
            <a:spLocks noGrp="1"/>
          </p:cNvSpPr>
          <p:nvPr>
            <p:ph type="title"/>
          </p:nvPr>
        </p:nvSpPr>
        <p:spPr>
          <a:xfrm>
            <a:off x="4927472" y="609600"/>
            <a:ext cx="6340084" cy="1326321"/>
          </a:xfrm>
        </p:spPr>
        <p:txBody>
          <a:bodyPr>
            <a:normAutofit/>
          </a:bodyPr>
          <a:lstStyle/>
          <a:p>
            <a:r>
              <a:rPr lang="tr-TR" dirty="0">
                <a:latin typeface="Bahnschrift SemiBold" panose="020B0502040204020203" pitchFamily="34" charset="0"/>
              </a:rPr>
              <a:t>KULLANICI ARAYÜZÜ VE BACKEND İŞLEMLERİ</a:t>
            </a:r>
          </a:p>
        </p:txBody>
      </p:sp>
      <p:pic>
        <p:nvPicPr>
          <p:cNvPr id="5" name="Picture 4" descr="Yapışkan notlarla kapsanan bir duvar.">
            <a:extLst>
              <a:ext uri="{FF2B5EF4-FFF2-40B4-BE49-F238E27FC236}">
                <a16:creationId xmlns:a16="http://schemas.microsoft.com/office/drawing/2014/main" id="{9E6AB8C4-5DF6-E97D-3379-709D8531AEF4}"/>
              </a:ext>
            </a:extLst>
          </p:cNvPr>
          <p:cNvPicPr>
            <a:picLocks noChangeAspect="1"/>
          </p:cNvPicPr>
          <p:nvPr/>
        </p:nvPicPr>
        <p:blipFill>
          <a:blip r:embed="rId3"/>
          <a:srcRect l="26988" r="31099" b="-1"/>
          <a:stretch>
            <a:fillRect/>
          </a:stretch>
        </p:blipFill>
        <p:spPr>
          <a:xfrm>
            <a:off x="20" y="10"/>
            <a:ext cx="4635987" cy="6857990"/>
          </a:xfrm>
          <a:prstGeom prst="rect">
            <a:avLst/>
          </a:prstGeom>
        </p:spPr>
      </p:pic>
      <p:sp>
        <p:nvSpPr>
          <p:cNvPr id="3" name="İçerik Yer Tutucusu 2">
            <a:extLst>
              <a:ext uri="{FF2B5EF4-FFF2-40B4-BE49-F238E27FC236}">
                <a16:creationId xmlns:a16="http://schemas.microsoft.com/office/drawing/2014/main" id="{06D2DC8D-7DC0-7447-5A7C-9784219369A4}"/>
              </a:ext>
            </a:extLst>
          </p:cNvPr>
          <p:cNvSpPr>
            <a:spLocks noGrp="1"/>
          </p:cNvSpPr>
          <p:nvPr>
            <p:ph idx="1"/>
          </p:nvPr>
        </p:nvSpPr>
        <p:spPr>
          <a:xfrm>
            <a:off x="4927471" y="2096064"/>
            <a:ext cx="6340085" cy="3695136"/>
          </a:xfrm>
        </p:spPr>
        <p:txBody>
          <a:bodyPr>
            <a:normAutofit/>
          </a:bodyPr>
          <a:lstStyle/>
          <a:p>
            <a:r>
              <a:rPr lang="tr-TR">
                <a:effectLst/>
              </a:rPr>
              <a:t>Web arayüzü, kullanıcıların PCAP dosyası yükleyip model seçerek anomali analizi yapmasına olanak sağlar. Analiz, geçmiş kayıtlar ve model karşılaştırmaları tek bir panelde sunulur. Sayfalar; tek dosya analizi, hazır test setleri, geçmiş sonuçlar ve model metriklerinin görüntülenmesi gibi işlevlere ayrılmıştır.</a:t>
            </a:r>
            <a:endParaRPr lang="tr-TR" dirty="0"/>
          </a:p>
        </p:txBody>
      </p:sp>
      <p:cxnSp>
        <p:nvCxnSpPr>
          <p:cNvPr id="9" name="Straight Connector 8">
            <a:extLst>
              <a:ext uri="{FF2B5EF4-FFF2-40B4-BE49-F238E27FC236}">
                <a16:creationId xmlns:a16="http://schemas.microsoft.com/office/drawing/2014/main" id="{E2A31A05-19BB-4F84-9402-E8569CBDBD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6007"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0000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B87C76-1389-989B-87AF-B56FF0DA4135}"/>
              </a:ext>
            </a:extLst>
          </p:cNvPr>
          <p:cNvSpPr>
            <a:spLocks noGrp="1"/>
          </p:cNvSpPr>
          <p:nvPr>
            <p:ph type="title"/>
          </p:nvPr>
        </p:nvSpPr>
        <p:spPr>
          <a:xfrm>
            <a:off x="913795" y="609600"/>
            <a:ext cx="10353761" cy="1326321"/>
          </a:xfrm>
        </p:spPr>
        <p:txBody>
          <a:bodyPr>
            <a:normAutofit/>
          </a:bodyPr>
          <a:lstStyle/>
          <a:p>
            <a:r>
              <a:rPr lang="tr-TR" dirty="0">
                <a:latin typeface="Bahnschrift SemiBold" panose="020B0502040204020203" pitchFamily="34" charset="0"/>
              </a:rPr>
              <a:t>BACKEND VE VERİTABANI</a:t>
            </a:r>
          </a:p>
        </p:txBody>
      </p:sp>
      <p:sp>
        <p:nvSpPr>
          <p:cNvPr id="3" name="İçerik Yer Tutucusu 2">
            <a:extLst>
              <a:ext uri="{FF2B5EF4-FFF2-40B4-BE49-F238E27FC236}">
                <a16:creationId xmlns:a16="http://schemas.microsoft.com/office/drawing/2014/main" id="{52F0CFFF-3304-3FDA-36BB-6A40CB24C1A5}"/>
              </a:ext>
            </a:extLst>
          </p:cNvPr>
          <p:cNvSpPr>
            <a:spLocks noGrp="1"/>
          </p:cNvSpPr>
          <p:nvPr>
            <p:ph idx="1"/>
          </p:nvPr>
        </p:nvSpPr>
        <p:spPr>
          <a:xfrm>
            <a:off x="913795" y="2096064"/>
            <a:ext cx="6352824" cy="3695136"/>
          </a:xfrm>
        </p:spPr>
        <p:txBody>
          <a:bodyPr>
            <a:normAutofit/>
          </a:bodyPr>
          <a:lstStyle/>
          <a:p>
            <a:r>
              <a:rPr lang="tr-TR" sz="1900" err="1">
                <a:effectLst/>
              </a:rPr>
              <a:t>Backend</a:t>
            </a:r>
            <a:r>
              <a:rPr lang="tr-TR" sz="1900">
                <a:effectLst/>
              </a:rPr>
              <a:t> katmanı </a:t>
            </a:r>
            <a:r>
              <a:rPr lang="tr-TR" sz="1900" err="1">
                <a:effectLst/>
              </a:rPr>
              <a:t>FastAPI</a:t>
            </a:r>
            <a:r>
              <a:rPr lang="tr-TR" sz="1900">
                <a:effectLst/>
              </a:rPr>
              <a:t> ile kurularak dosya yükleme, model çalıştırma ve sonuç üretme süreçlerini API üzerinden yönetir. Yüklenen </a:t>
            </a:r>
            <a:r>
              <a:rPr lang="tr-TR" sz="1900" err="1">
                <a:effectLst/>
              </a:rPr>
              <a:t>PCAP’ler</a:t>
            </a:r>
            <a:r>
              <a:rPr lang="tr-TR" sz="1900">
                <a:effectLst/>
              </a:rPr>
              <a:t> işlenir, seçilen model ile tahmin yapılır ve sonuçlar JSON olarak arayüze döndürülür. Üretilen analiz çıktıları ve geçmiş kayıtları ise </a:t>
            </a:r>
            <a:r>
              <a:rPr lang="tr-TR" sz="1900" err="1">
                <a:effectLst/>
              </a:rPr>
              <a:t>SQLite</a:t>
            </a:r>
            <a:r>
              <a:rPr lang="tr-TR" sz="1900">
                <a:effectLst/>
              </a:rPr>
              <a:t> </a:t>
            </a:r>
            <a:r>
              <a:rPr lang="tr-TR" sz="1900" err="1">
                <a:effectLst/>
              </a:rPr>
              <a:t>veritabanında</a:t>
            </a:r>
            <a:r>
              <a:rPr lang="tr-TR" sz="1900">
                <a:effectLst/>
              </a:rPr>
              <a:t> saklanır; böylece kullanıcı geçmiş sonuçlara hızlıca erişebilir ve raporlar merkezi şekilde yönetilir.</a:t>
            </a:r>
          </a:p>
          <a:p>
            <a:br>
              <a:rPr lang="tr-TR" sz="1900">
                <a:effectLst/>
              </a:rPr>
            </a:br>
            <a:endParaRPr lang="tr-TR" sz="1900"/>
          </a:p>
        </p:txBody>
      </p:sp>
      <p:pic>
        <p:nvPicPr>
          <p:cNvPr id="7" name="Graphic 6" descr="Onay işareti">
            <a:extLst>
              <a:ext uri="{FF2B5EF4-FFF2-40B4-BE49-F238E27FC236}">
                <a16:creationId xmlns:a16="http://schemas.microsoft.com/office/drawing/2014/main" id="{B2811F9B-E736-67DA-BC0F-682F5CAB9E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88035" y="2210935"/>
            <a:ext cx="3493180"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2105519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E0DEE48-40FB-F6EF-9026-43DBF263E8DF}"/>
              </a:ext>
            </a:extLst>
          </p:cNvPr>
          <p:cNvSpPr>
            <a:spLocks noGrp="1"/>
          </p:cNvSpPr>
          <p:nvPr>
            <p:ph type="title"/>
          </p:nvPr>
        </p:nvSpPr>
        <p:spPr/>
        <p:txBody>
          <a:bodyPr/>
          <a:lstStyle/>
          <a:p>
            <a:r>
              <a:rPr lang="tr-TR" dirty="0">
                <a:latin typeface="Bahnschrift SemiBold" panose="020B0502040204020203" pitchFamily="34" charset="0"/>
              </a:rPr>
              <a:t>MODEL SONUÇLARI</a:t>
            </a:r>
            <a:br>
              <a:rPr lang="tr-TR" dirty="0">
                <a:latin typeface="Bahnschrift SemiBold" panose="020B0502040204020203" pitchFamily="34" charset="0"/>
              </a:rPr>
            </a:br>
            <a:r>
              <a:rPr lang="tr-TR" dirty="0" err="1">
                <a:latin typeface="Bahnschrift SemiBold" panose="020B0502040204020203" pitchFamily="34" charset="0"/>
              </a:rPr>
              <a:t>autoencoder</a:t>
            </a:r>
            <a:endParaRPr lang="tr-TR" dirty="0">
              <a:latin typeface="Bahnschrift SemiBold" panose="020B0502040204020203" pitchFamily="34" charset="0"/>
            </a:endParaRPr>
          </a:p>
        </p:txBody>
      </p:sp>
      <p:sp>
        <p:nvSpPr>
          <p:cNvPr id="3" name="Metin Yer Tutucusu 2">
            <a:extLst>
              <a:ext uri="{FF2B5EF4-FFF2-40B4-BE49-F238E27FC236}">
                <a16:creationId xmlns:a16="http://schemas.microsoft.com/office/drawing/2014/main" id="{948714CA-890B-CCEB-FF10-64811E94CC03}"/>
              </a:ext>
            </a:extLst>
          </p:cNvPr>
          <p:cNvSpPr>
            <a:spLocks noGrp="1"/>
          </p:cNvSpPr>
          <p:nvPr>
            <p:ph type="body" idx="1"/>
          </p:nvPr>
        </p:nvSpPr>
        <p:spPr/>
        <p:txBody>
          <a:bodyPr/>
          <a:lstStyle/>
          <a:p>
            <a:r>
              <a:rPr lang="tr-TR" dirty="0"/>
              <a:t>CONFUSION MATRIX</a:t>
            </a:r>
          </a:p>
        </p:txBody>
      </p:sp>
      <p:sp>
        <p:nvSpPr>
          <p:cNvPr id="4" name="Metin Yer Tutucusu 3">
            <a:extLst>
              <a:ext uri="{FF2B5EF4-FFF2-40B4-BE49-F238E27FC236}">
                <a16:creationId xmlns:a16="http://schemas.microsoft.com/office/drawing/2014/main" id="{E796F303-CD90-25FD-0396-516192496901}"/>
              </a:ext>
            </a:extLst>
          </p:cNvPr>
          <p:cNvSpPr>
            <a:spLocks noGrp="1"/>
          </p:cNvSpPr>
          <p:nvPr>
            <p:ph type="body" sz="half" idx="15"/>
          </p:nvPr>
        </p:nvSpPr>
        <p:spPr/>
        <p:txBody>
          <a:bodyPr/>
          <a:lstStyle/>
          <a:p>
            <a:endParaRPr lang="tr-TR" dirty="0"/>
          </a:p>
        </p:txBody>
      </p:sp>
      <p:sp>
        <p:nvSpPr>
          <p:cNvPr id="5" name="Metin Yer Tutucusu 4">
            <a:extLst>
              <a:ext uri="{FF2B5EF4-FFF2-40B4-BE49-F238E27FC236}">
                <a16:creationId xmlns:a16="http://schemas.microsoft.com/office/drawing/2014/main" id="{29156C31-0A66-3E0E-30CF-D7C62B5733D3}"/>
              </a:ext>
            </a:extLst>
          </p:cNvPr>
          <p:cNvSpPr>
            <a:spLocks noGrp="1"/>
          </p:cNvSpPr>
          <p:nvPr>
            <p:ph type="body" sz="quarter" idx="3"/>
          </p:nvPr>
        </p:nvSpPr>
        <p:spPr/>
        <p:txBody>
          <a:bodyPr/>
          <a:lstStyle/>
          <a:p>
            <a:r>
              <a:rPr lang="tr-TR" dirty="0"/>
              <a:t>LOSS CURVE</a:t>
            </a:r>
          </a:p>
        </p:txBody>
      </p:sp>
      <p:sp>
        <p:nvSpPr>
          <p:cNvPr id="6" name="Metin Yer Tutucusu 5">
            <a:extLst>
              <a:ext uri="{FF2B5EF4-FFF2-40B4-BE49-F238E27FC236}">
                <a16:creationId xmlns:a16="http://schemas.microsoft.com/office/drawing/2014/main" id="{818196BD-53A1-A124-7687-F6C8EE1AB54A}"/>
              </a:ext>
            </a:extLst>
          </p:cNvPr>
          <p:cNvSpPr>
            <a:spLocks noGrp="1"/>
          </p:cNvSpPr>
          <p:nvPr>
            <p:ph type="body" sz="half" idx="16"/>
          </p:nvPr>
        </p:nvSpPr>
        <p:spPr/>
        <p:txBody>
          <a:bodyPr/>
          <a:lstStyle/>
          <a:p>
            <a:endParaRPr lang="tr-TR" dirty="0"/>
          </a:p>
        </p:txBody>
      </p:sp>
      <p:sp>
        <p:nvSpPr>
          <p:cNvPr id="7" name="Metin Yer Tutucusu 6">
            <a:extLst>
              <a:ext uri="{FF2B5EF4-FFF2-40B4-BE49-F238E27FC236}">
                <a16:creationId xmlns:a16="http://schemas.microsoft.com/office/drawing/2014/main" id="{9837DF31-3FC6-A666-EEA1-CC66F577B98C}"/>
              </a:ext>
            </a:extLst>
          </p:cNvPr>
          <p:cNvSpPr>
            <a:spLocks noGrp="1"/>
          </p:cNvSpPr>
          <p:nvPr>
            <p:ph type="body" sz="quarter" idx="13"/>
          </p:nvPr>
        </p:nvSpPr>
        <p:spPr/>
        <p:txBody>
          <a:bodyPr/>
          <a:lstStyle/>
          <a:p>
            <a:r>
              <a:rPr lang="tr-TR" dirty="0"/>
              <a:t>RECONSTRUCTION ERROR</a:t>
            </a:r>
          </a:p>
        </p:txBody>
      </p:sp>
      <p:sp>
        <p:nvSpPr>
          <p:cNvPr id="8" name="Metin Yer Tutucusu 7">
            <a:extLst>
              <a:ext uri="{FF2B5EF4-FFF2-40B4-BE49-F238E27FC236}">
                <a16:creationId xmlns:a16="http://schemas.microsoft.com/office/drawing/2014/main" id="{1E33B0AE-7377-C3B2-4834-23AC80678B2F}"/>
              </a:ext>
            </a:extLst>
          </p:cNvPr>
          <p:cNvSpPr>
            <a:spLocks noGrp="1"/>
          </p:cNvSpPr>
          <p:nvPr>
            <p:ph type="body" sz="half" idx="17"/>
          </p:nvPr>
        </p:nvSpPr>
        <p:spPr/>
        <p:txBody>
          <a:bodyPr/>
          <a:lstStyle/>
          <a:p>
            <a:endParaRPr lang="tr-TR" dirty="0"/>
          </a:p>
        </p:txBody>
      </p:sp>
      <p:pic>
        <p:nvPicPr>
          <p:cNvPr id="10" name="Resim 9">
            <a:extLst>
              <a:ext uri="{FF2B5EF4-FFF2-40B4-BE49-F238E27FC236}">
                <a16:creationId xmlns:a16="http://schemas.microsoft.com/office/drawing/2014/main" id="{F2D33A79-0B8B-679E-78CE-C96547607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614" y="2911624"/>
            <a:ext cx="3496200" cy="2879576"/>
          </a:xfrm>
          <a:prstGeom prst="rect">
            <a:avLst/>
          </a:prstGeom>
        </p:spPr>
      </p:pic>
      <p:pic>
        <p:nvPicPr>
          <p:cNvPr id="12" name="Resim 11">
            <a:extLst>
              <a:ext uri="{FF2B5EF4-FFF2-40B4-BE49-F238E27FC236}">
                <a16:creationId xmlns:a16="http://schemas.microsoft.com/office/drawing/2014/main" id="{1FAC1AF1-CF97-7071-8E05-7EE1DED38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9995" y="2911625"/>
            <a:ext cx="3333442" cy="2879576"/>
          </a:xfrm>
          <a:prstGeom prst="rect">
            <a:avLst/>
          </a:prstGeom>
        </p:spPr>
      </p:pic>
      <p:pic>
        <p:nvPicPr>
          <p:cNvPr id="14" name="Resim 13">
            <a:extLst>
              <a:ext uri="{FF2B5EF4-FFF2-40B4-BE49-F238E27FC236}">
                <a16:creationId xmlns:a16="http://schemas.microsoft.com/office/drawing/2014/main" id="{3A2B1CD3-D03F-42D8-7301-7D1753BDD7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0682" y="2911624"/>
            <a:ext cx="3291211" cy="2879576"/>
          </a:xfrm>
          <a:prstGeom prst="rect">
            <a:avLst/>
          </a:prstGeom>
        </p:spPr>
      </p:pic>
    </p:spTree>
    <p:extLst>
      <p:ext uri="{BB962C8B-B14F-4D97-AF65-F5344CB8AC3E}">
        <p14:creationId xmlns:p14="http://schemas.microsoft.com/office/powerpoint/2010/main" val="3245157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D7B969-E82A-979B-62B9-30FDCCFEB8D1}"/>
              </a:ext>
            </a:extLst>
          </p:cNvPr>
          <p:cNvSpPr>
            <a:spLocks noGrp="1"/>
          </p:cNvSpPr>
          <p:nvPr>
            <p:ph type="title"/>
          </p:nvPr>
        </p:nvSpPr>
        <p:spPr/>
        <p:txBody>
          <a:bodyPr/>
          <a:lstStyle/>
          <a:p>
            <a:r>
              <a:rPr lang="tr-TR" dirty="0">
                <a:latin typeface="Bahnschrift SemiBold" panose="020B0502040204020203" pitchFamily="34" charset="0"/>
              </a:rPr>
              <a:t>DİĞER MODEL SONUÇLARI</a:t>
            </a:r>
            <a:br>
              <a:rPr lang="tr-TR" dirty="0">
                <a:latin typeface="Bahnschrift SemiBold" panose="020B0502040204020203" pitchFamily="34" charset="0"/>
              </a:rPr>
            </a:br>
            <a:r>
              <a:rPr lang="tr-TR" dirty="0">
                <a:latin typeface="Bahnschrift SemiBold" panose="020B0502040204020203" pitchFamily="34" charset="0"/>
              </a:rPr>
              <a:t>CONFUSION MATRIX</a:t>
            </a:r>
          </a:p>
        </p:txBody>
      </p:sp>
      <p:pic>
        <p:nvPicPr>
          <p:cNvPr id="7" name="İçerik Yer Tutucusu 6">
            <a:extLst>
              <a:ext uri="{FF2B5EF4-FFF2-40B4-BE49-F238E27FC236}">
                <a16:creationId xmlns:a16="http://schemas.microsoft.com/office/drawing/2014/main" id="{CD3FF057-06AE-9D35-EA67-C652547626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120" y="2689550"/>
            <a:ext cx="3652690" cy="2956336"/>
          </a:xfrm>
          <a:prstGeom prst="rect">
            <a:avLst/>
          </a:prstGeom>
        </p:spPr>
      </p:pic>
      <p:pic>
        <p:nvPicPr>
          <p:cNvPr id="9" name="Resim 8">
            <a:extLst>
              <a:ext uri="{FF2B5EF4-FFF2-40B4-BE49-F238E27FC236}">
                <a16:creationId xmlns:a16="http://schemas.microsoft.com/office/drawing/2014/main" id="{04CC61A5-C650-2ABD-4270-46618F6DAE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8003" y="2689549"/>
            <a:ext cx="3715996" cy="2956337"/>
          </a:xfrm>
          <a:prstGeom prst="rect">
            <a:avLst/>
          </a:prstGeom>
        </p:spPr>
      </p:pic>
      <p:pic>
        <p:nvPicPr>
          <p:cNvPr id="11" name="Resim 10">
            <a:extLst>
              <a:ext uri="{FF2B5EF4-FFF2-40B4-BE49-F238E27FC236}">
                <a16:creationId xmlns:a16="http://schemas.microsoft.com/office/drawing/2014/main" id="{409AFBB4-1951-1D0D-0324-4D6A4BB255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62191" y="2689550"/>
            <a:ext cx="3715995" cy="2956336"/>
          </a:xfrm>
          <a:prstGeom prst="rect">
            <a:avLst/>
          </a:prstGeom>
        </p:spPr>
      </p:pic>
    </p:spTree>
    <p:extLst>
      <p:ext uri="{BB962C8B-B14F-4D97-AF65-F5344CB8AC3E}">
        <p14:creationId xmlns:p14="http://schemas.microsoft.com/office/powerpoint/2010/main" val="2048053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A423EAF-C710-FC21-0C6D-D57E9C9E2F8C}"/>
              </a:ext>
            </a:extLst>
          </p:cNvPr>
          <p:cNvSpPr>
            <a:spLocks noGrp="1"/>
          </p:cNvSpPr>
          <p:nvPr>
            <p:ph type="title"/>
          </p:nvPr>
        </p:nvSpPr>
        <p:spPr>
          <a:xfrm>
            <a:off x="696686" y="1122001"/>
            <a:ext cx="3040685" cy="4613999"/>
          </a:xfrm>
        </p:spPr>
        <p:txBody>
          <a:bodyPr anchor="ctr">
            <a:normAutofit/>
          </a:bodyPr>
          <a:lstStyle/>
          <a:p>
            <a:pPr algn="l"/>
            <a:r>
              <a:rPr lang="tr-TR" sz="2400" dirty="0">
                <a:solidFill>
                  <a:srgbClr val="FFFFFF"/>
                </a:solidFill>
                <a:latin typeface="Bahnschrift SemiBold" panose="020B0502040204020203" pitchFamily="34" charset="0"/>
              </a:rPr>
              <a:t>PROJE ÖZETİ</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405FE99-69C7-EFB4-D3A0-B3EDA53D4D0B}"/>
              </a:ext>
            </a:extLst>
          </p:cNvPr>
          <p:cNvSpPr>
            <a:spLocks noGrp="1"/>
          </p:cNvSpPr>
          <p:nvPr>
            <p:ph idx="1"/>
          </p:nvPr>
        </p:nvSpPr>
        <p:spPr>
          <a:xfrm>
            <a:off x="4711641" y="1122001"/>
            <a:ext cx="6566564" cy="4761274"/>
          </a:xfrm>
        </p:spPr>
        <p:txBody>
          <a:bodyPr anchor="ctr">
            <a:normAutofit/>
          </a:bodyPr>
          <a:lstStyle/>
          <a:p>
            <a:r>
              <a:rPr lang="tr-TR" sz="1600" dirty="0">
                <a:effectLst/>
              </a:rPr>
              <a:t>Projede, ham ağ trafiği (PCAP/PCAPNG) verilerinden anlamlı özellikler çıkarılarak anomali tespitine yönelik uçtan uca bir sistem geliştirildi. Eğitim aşamasında yalnızca normal trafik kullanılarak </a:t>
            </a:r>
            <a:r>
              <a:rPr lang="tr-TR" sz="1600" dirty="0" err="1">
                <a:effectLst/>
              </a:rPr>
              <a:t>Autoencoder</a:t>
            </a:r>
            <a:r>
              <a:rPr lang="tr-TR" sz="1600" dirty="0">
                <a:effectLst/>
              </a:rPr>
              <a:t> ile normal davranış profili öğrenildi; ayrıca </a:t>
            </a:r>
            <a:r>
              <a:rPr lang="tr-TR" sz="1600" dirty="0" err="1">
                <a:effectLst/>
              </a:rPr>
              <a:t>Isolation</a:t>
            </a:r>
            <a:r>
              <a:rPr lang="tr-TR" sz="1600" dirty="0">
                <a:effectLst/>
              </a:rPr>
              <a:t> </a:t>
            </a:r>
            <a:r>
              <a:rPr lang="tr-TR" sz="1600" dirty="0" err="1">
                <a:effectLst/>
              </a:rPr>
              <a:t>Forest</a:t>
            </a:r>
            <a:r>
              <a:rPr lang="tr-TR" sz="1600" dirty="0">
                <a:effectLst/>
              </a:rPr>
              <a:t>, </a:t>
            </a:r>
            <a:r>
              <a:rPr lang="tr-TR" sz="1600" dirty="0" err="1">
                <a:effectLst/>
              </a:rPr>
              <a:t>One</a:t>
            </a:r>
            <a:r>
              <a:rPr lang="tr-TR" sz="1600" dirty="0">
                <a:effectLst/>
              </a:rPr>
              <a:t>‑Class SVM ve PCA modelleri aynı veri üzerinde eğitilip karşılaştırıldı. Veri temizleme, dosya bazlı </a:t>
            </a:r>
            <a:r>
              <a:rPr lang="tr-TR" sz="1600" dirty="0" err="1">
                <a:effectLst/>
              </a:rPr>
              <a:t>train</a:t>
            </a:r>
            <a:r>
              <a:rPr lang="tr-TR" sz="1600" dirty="0">
                <a:effectLst/>
              </a:rPr>
              <a:t>/</a:t>
            </a:r>
            <a:r>
              <a:rPr lang="tr-TR" sz="1600" dirty="0" err="1">
                <a:effectLst/>
              </a:rPr>
              <a:t>validation</a:t>
            </a:r>
            <a:r>
              <a:rPr lang="tr-TR" sz="1600" dirty="0">
                <a:effectLst/>
              </a:rPr>
              <a:t>/test bölme ve doğrulama seti üzerinden eşik belirleme adımlarıyla değerlendirme süreci güvenilir hale getirildi. </a:t>
            </a:r>
            <a:r>
              <a:rPr lang="tr-TR" sz="1600" dirty="0" err="1">
                <a:effectLst/>
              </a:rPr>
              <a:t>FastAPI</a:t>
            </a:r>
            <a:r>
              <a:rPr lang="tr-TR" sz="1600" dirty="0">
                <a:effectLst/>
              </a:rPr>
              <a:t> tabanlı </a:t>
            </a:r>
            <a:r>
              <a:rPr lang="tr-TR" sz="1600" dirty="0" err="1">
                <a:effectLst/>
              </a:rPr>
              <a:t>backend</a:t>
            </a:r>
            <a:r>
              <a:rPr lang="tr-TR" sz="1600" dirty="0">
                <a:effectLst/>
              </a:rPr>
              <a:t> ve web arayüzü sayesinde kullanıcılar dosya yükleyip model seçerek analiz yapabiliyor ve sonuçları geçmiş kayıtlar üzerinden takip edebiliyor.</a:t>
            </a:r>
            <a:endParaRPr lang="tr-TR" sz="1600" dirty="0"/>
          </a:p>
        </p:txBody>
      </p:sp>
    </p:spTree>
    <p:extLst>
      <p:ext uri="{BB962C8B-B14F-4D97-AF65-F5344CB8AC3E}">
        <p14:creationId xmlns:p14="http://schemas.microsoft.com/office/powerpoint/2010/main" val="2964175086"/>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F60C482-D459-7E14-3E5E-8C94C6CA7631}"/>
              </a:ext>
            </a:extLst>
          </p:cNvPr>
          <p:cNvSpPr>
            <a:spLocks noGrp="1"/>
          </p:cNvSpPr>
          <p:nvPr>
            <p:ph type="title"/>
          </p:nvPr>
        </p:nvSpPr>
        <p:spPr>
          <a:xfrm>
            <a:off x="752475" y="609600"/>
            <a:ext cx="3643150" cy="5603310"/>
          </a:xfrm>
        </p:spPr>
        <p:txBody>
          <a:bodyPr>
            <a:normAutofit/>
          </a:bodyPr>
          <a:lstStyle/>
          <a:p>
            <a:r>
              <a:rPr lang="tr-TR" sz="2600">
                <a:latin typeface="Bahnschrift SemiBold" panose="020B0502040204020203" pitchFamily="34" charset="0"/>
              </a:rPr>
              <a:t>PROJENİN GELİŞTİRİLEBİLECEK YANLARI</a:t>
            </a:r>
          </a:p>
        </p:txBody>
      </p:sp>
      <p:graphicFrame>
        <p:nvGraphicFramePr>
          <p:cNvPr id="5" name="İçerik Yer Tutucusu 2">
            <a:extLst>
              <a:ext uri="{FF2B5EF4-FFF2-40B4-BE49-F238E27FC236}">
                <a16:creationId xmlns:a16="http://schemas.microsoft.com/office/drawing/2014/main" id="{B1DC3CB1-C235-A974-8794-C1F64C64C1C4}"/>
              </a:ext>
            </a:extLst>
          </p:cNvPr>
          <p:cNvGraphicFramePr>
            <a:graphicFrameLocks noGrp="1"/>
          </p:cNvGraphicFramePr>
          <p:nvPr>
            <p:ph idx="1"/>
            <p:extLst>
              <p:ext uri="{D42A27DB-BD31-4B8C-83A1-F6EECF244321}">
                <p14:modId xmlns:p14="http://schemas.microsoft.com/office/powerpoint/2010/main" val="3672627816"/>
              </p:ext>
            </p:extLst>
          </p:nvPr>
        </p:nvGraphicFramePr>
        <p:xfrm>
          <a:off x="5127625" y="1114425"/>
          <a:ext cx="5924550" cy="4629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96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DBB1A9-22FF-46E7-97B9-AE547747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07D6785-1495-4C7C-06DD-7608B1F86FF9}"/>
              </a:ext>
            </a:extLst>
          </p:cNvPr>
          <p:cNvSpPr>
            <a:spLocks noGrp="1"/>
          </p:cNvSpPr>
          <p:nvPr>
            <p:ph type="title"/>
          </p:nvPr>
        </p:nvSpPr>
        <p:spPr>
          <a:xfrm>
            <a:off x="1282703" y="1289888"/>
            <a:ext cx="5854698" cy="4278224"/>
          </a:xfrm>
        </p:spPr>
        <p:txBody>
          <a:bodyPr vert="horz" lIns="91440" tIns="45720" rIns="91440" bIns="45720" rtlCol="0" anchor="ctr">
            <a:normAutofit/>
          </a:bodyPr>
          <a:lstStyle/>
          <a:p>
            <a:pPr algn="r"/>
            <a:r>
              <a:rPr lang="en-US" sz="5400"/>
              <a:t>BİZİ DİNLEDİĞİNİZ İÇİN TEŞEKKÜRLER</a:t>
            </a:r>
          </a:p>
        </p:txBody>
      </p:sp>
      <p:cxnSp>
        <p:nvCxnSpPr>
          <p:cNvPr id="9" name="Straight Connector 8">
            <a:extLst>
              <a:ext uri="{FF2B5EF4-FFF2-40B4-BE49-F238E27FC236}">
                <a16:creationId xmlns:a16="http://schemas.microsoft.com/office/drawing/2014/main" id="{3A1AAD47-56AD-4EE6-A88C-981D060DC2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27811" y="2473325"/>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759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78CAEFF-7E13-0E49-859C-6945D7DAFA88}"/>
              </a:ext>
            </a:extLst>
          </p:cNvPr>
          <p:cNvSpPr>
            <a:spLocks noGrp="1"/>
          </p:cNvSpPr>
          <p:nvPr>
            <p:ph type="title"/>
          </p:nvPr>
        </p:nvSpPr>
        <p:spPr/>
        <p:txBody>
          <a:bodyPr/>
          <a:lstStyle/>
          <a:p>
            <a:r>
              <a:rPr lang="tr-TR" dirty="0"/>
              <a:t>kaynakça</a:t>
            </a:r>
          </a:p>
        </p:txBody>
      </p:sp>
      <p:sp>
        <p:nvSpPr>
          <p:cNvPr id="3" name="İçerik Yer Tutucusu 2">
            <a:extLst>
              <a:ext uri="{FF2B5EF4-FFF2-40B4-BE49-F238E27FC236}">
                <a16:creationId xmlns:a16="http://schemas.microsoft.com/office/drawing/2014/main" id="{4A8FE89E-E018-C66B-8505-DFFE56BB0A3C}"/>
              </a:ext>
            </a:extLst>
          </p:cNvPr>
          <p:cNvSpPr>
            <a:spLocks noGrp="1"/>
          </p:cNvSpPr>
          <p:nvPr>
            <p:ph idx="1"/>
          </p:nvPr>
        </p:nvSpPr>
        <p:spPr/>
        <p:txBody>
          <a:bodyPr/>
          <a:lstStyle/>
          <a:p>
            <a:r>
              <a:rPr lang="tr-TR" dirty="0">
                <a:hlinkClick r:id="rId2"/>
              </a:rPr>
              <a:t>https://www.deeplearningbook.org/contents/autoencoders.html</a:t>
            </a:r>
            <a:endParaRPr lang="tr-TR" dirty="0"/>
          </a:p>
          <a:p>
            <a:r>
              <a:rPr lang="tr-TR" dirty="0">
                <a:hlinkClick r:id="rId3"/>
              </a:rPr>
              <a:t>https://gitlab.com/wireshark/wireshark/-/wikis/Development/LibpcapFileFormat</a:t>
            </a:r>
            <a:endParaRPr lang="tr-TR" dirty="0"/>
          </a:p>
          <a:p>
            <a:r>
              <a:rPr lang="tr-TR" dirty="0">
                <a:hlinkClick r:id="rId4"/>
              </a:rPr>
              <a:t>https://fastapi.tiangolo.com/</a:t>
            </a:r>
            <a:endParaRPr lang="tr-TR" dirty="0"/>
          </a:p>
          <a:p>
            <a:r>
              <a:rPr lang="tr-TR" dirty="0">
                <a:hlinkClick r:id="rId5"/>
              </a:rPr>
              <a:t>https://github.com/sampathv95/Network-Intrusion-Detection?utm_source=chatgpt.com</a:t>
            </a:r>
            <a:endParaRPr lang="tr-TR" dirty="0"/>
          </a:p>
          <a:p>
            <a:r>
              <a:rPr lang="tr-TR" dirty="0">
                <a:hlinkClick r:id="rId6"/>
              </a:rPr>
              <a:t>https://medium.com/@sanket.nadargi1/autoencoders-b49f4a4e3588</a:t>
            </a:r>
            <a:endParaRPr lang="tr-TR" dirty="0"/>
          </a:p>
          <a:p>
            <a:endParaRPr lang="tr-TR" dirty="0"/>
          </a:p>
          <a:p>
            <a:endParaRPr lang="tr-TR" dirty="0"/>
          </a:p>
        </p:txBody>
      </p:sp>
    </p:spTree>
    <p:extLst>
      <p:ext uri="{BB962C8B-B14F-4D97-AF65-F5344CB8AC3E}">
        <p14:creationId xmlns:p14="http://schemas.microsoft.com/office/powerpoint/2010/main" val="19656382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573</TotalTime>
  <Words>1368</Words>
  <Application>Microsoft Office PowerPoint</Application>
  <PresentationFormat>Geniş ekran</PresentationFormat>
  <Paragraphs>106</Paragraphs>
  <Slides>26</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26</vt:i4>
      </vt:variant>
    </vt:vector>
  </HeadingPairs>
  <TitlesOfParts>
    <vt:vector size="32" baseType="lpstr">
      <vt:lpstr>Arial</vt:lpstr>
      <vt:lpstr>Bahnschrift SemiBold</vt:lpstr>
      <vt:lpstr>Bookman Old Style</vt:lpstr>
      <vt:lpstr>Calibri</vt:lpstr>
      <vt:lpstr>Rockwell</vt:lpstr>
      <vt:lpstr>Damask</vt:lpstr>
      <vt:lpstr>NETanomaı</vt:lpstr>
      <vt:lpstr>Ekip üyelerimiz</vt:lpstr>
      <vt:lpstr>İÇERİKLER</vt:lpstr>
      <vt:lpstr>Giriş</vt:lpstr>
      <vt:lpstr>Projenin amacı</vt:lpstr>
      <vt:lpstr>Veri ÜRETİMİ</vt:lpstr>
      <vt:lpstr>VERİ ÜRETİM AŞAMALARI</vt:lpstr>
      <vt:lpstr>PowerPoint Sunusu</vt:lpstr>
      <vt:lpstr>Veri İşleme</vt:lpstr>
      <vt:lpstr>Veri işleme filtre ÖRNEKLERİ</vt:lpstr>
      <vt:lpstr>VERİ SETİ OLUŞTURMA</vt:lpstr>
      <vt:lpstr>VERİ SETİ OLUŞTURMA</vt:lpstr>
      <vt:lpstr>MODEL MİMARİSİ</vt:lpstr>
      <vt:lpstr>PowerPoint Sunusu</vt:lpstr>
      <vt:lpstr>KULLANILAN DİĞER MİMARİLER</vt:lpstr>
      <vt:lpstr>EĞİTİM SÜRECİ</vt:lpstr>
      <vt:lpstr>Eğitim süreci</vt:lpstr>
      <vt:lpstr>Hiperparametre optimizasyonu</vt:lpstr>
      <vt:lpstr>KULLANICI ARAYÜZÜ VE BACKEND İŞLEMLERİ</vt:lpstr>
      <vt:lpstr>BACKEND VE VERİTABANI</vt:lpstr>
      <vt:lpstr>MODEL SONUÇLARI autoencoder</vt:lpstr>
      <vt:lpstr>DİĞER MODEL SONUÇLARI CONFUSION MATRIX</vt:lpstr>
      <vt:lpstr>PROJE ÖZETİ</vt:lpstr>
      <vt:lpstr>PROJENİN GELİŞTİRİLEBİLECEK YANLARI</vt:lpstr>
      <vt:lpstr>BİZİ DİNLEDİĞİNİZ İÇİN TEŞEKKÜRLER</vt:lpstr>
      <vt:lpstr>kaynakça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GÖKAY YILDIZ</dc:creator>
  <cp:lastModifiedBy>GÖKAY YILDIZ</cp:lastModifiedBy>
  <cp:revision>4</cp:revision>
  <dcterms:created xsi:type="dcterms:W3CDTF">2026-05-28T12:45:10Z</dcterms:created>
  <dcterms:modified xsi:type="dcterms:W3CDTF">2026-05-30T11:32:48Z</dcterms:modified>
</cp:coreProperties>
</file>